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vYcsyBO9oNYmms0Kw7fk16b15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FD217D-D988-4FDB-A875-FAF5CC902C0D}">
  <a:tblStyle styleId="{2CFD217D-D988-4FDB-A875-FAF5CC902C0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Project title in the proposal: Attention Allocation and Navigation Information Design: for Newcomers to Hong Kong. Group Safari. Principal Investigator: Associate Professor Jaden Park. Course instructor and cohort tutor: Dr. Rui He. LIU Eric James 26039986g; YANG Haolin 26037801g; ZHANG Yichen 26066412g; ZHU Kecheng 26118866g.</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Background and Research Questions. Motivating observations are not established findings about Hong Kong newcomers. Main registered question: How can navigation information be classified by its associated interaction burdens to inform interaction design methods for improving when and how it is presented and delivered? Burden is contextual, not a fixed property of a category.</a:t>
            </a:r>
            <a:endParaRPr/>
          </a:p>
          <a:p>
            <a:pPr indent="0" lvl="0" marL="0" rtl="0" algn="l">
              <a:lnSpc>
                <a:spcPct val="100000"/>
              </a:lnSpc>
              <a:spcBef>
                <a:spcPts val="0"/>
              </a:spcBef>
              <a:spcAft>
                <a:spcPts val="0"/>
              </a:spcAft>
              <a:buSzPts val="1400"/>
              <a:buNone/>
            </a:pPr>
            <a:r>
              <a:rPr lang="en-US" sz="1200"/>
              <a:t>References cited in proposal: Schmitt et al. (2019), https://doi.org/10.1007/s11116-018-9880-9; Vaez et al. (2020), https://doi.org/10.1080/14616688.2019.1696883; Wickens (2008), https://doi.org/10.1518/001872008X288394; Oulasvirta et al. (2005), https://doi.org/10.1145/1054972.1055101; Wobbrock (2019), https://doi.org/10.1007/978-1-4471-7440-0_5.</a:t>
            </a:r>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Research approach, Who the Participants Are, Recruitment and Workload. Purposive convenience recruitment through university/newcomer networks and voluntary peer referrals. Participants contact the team privately. No payment currently budgeted. Seek variation in navigation habits without subgroup quotas. Record route familiarity, language familiarity and app experience separately. Six cases are a practical course target, not a statistical sample or guaranteed saturation. Four students work in two pairs with rotating roles.</a:t>
            </a:r>
            <a:endParaRPr/>
          </a:p>
        </p:txBody>
      </p:sp>
      <p:sp>
        <p:nvSpPr>
          <p:cNvPr id="44" name="Google Shape;4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Data Collection Methods: preparation, pilot and integrated session. Session ranges in the source are approximate. Scout a 15–20 minute public route and a documented backup. Pilot after ethics clearance, excluding the pilot volunteer from the main sample. Two researchers accompany each participant: observation/safety and camera. Optional short comments are episode-based, not continuous think-aloud. Capture short clips at consented decision points and include smooth or helpful episodes. Log prompts, timestamps and missing lead-in. No distress recreation. If time runs out, stop safely and retain a brief debrief. Document independent arrival, arrival with help or non-arrival and the reason. Stopping or withdrawing is not automatically a navigation failure.</a:t>
            </a:r>
            <a:endParaRPr/>
          </a:p>
        </p:txBody>
      </p:sp>
      <p:sp>
        <p:nvSpPr>
          <p:cNvPr id="59" name="Google Shape;5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Analysis and synthesis. Analysis unit: an information-interaction episode linking trigger, information, action, reported experience and outcome. Review complete cases first. Two researchers independently interpret the first two cases, discuss differences and refine a shared coding structure. Keep a cross-case matrix linked to notes, indexed clips and checked transcripts. Record contemporaneous versus retrospective reports, observations and researcher inference separately. A person’s multiple episodes are not independent participants. Each proposition includes a supporting example, a counterexample or boundary condition, and evaluation status. Internally review two anonymised cases for traceability, not effectiveness.</a:t>
            </a:r>
            <a:endParaRPr/>
          </a:p>
          <a:p>
            <a:pPr indent="0" lvl="0" marL="0" rtl="0" algn="l">
              <a:lnSpc>
                <a:spcPct val="100000"/>
              </a:lnSpc>
              <a:spcBef>
                <a:spcPts val="0"/>
              </a:spcBef>
              <a:spcAft>
                <a:spcPts val="0"/>
              </a:spcAft>
              <a:buSzPts val="1400"/>
              <a:buNone/>
            </a:pPr>
            <a:r>
              <a:rPr lang="en-US" sz="1200"/>
              <a:t>Further references in proposal: Cheng et al. (2023), https://doi.org/10.3389/fnins.2023.1024583; Bartling et al. (2026), https://doi.org/10.1080/15230406.2025.2512075; Shimokihara et al. (2025), https://doi.org/10.21037/mhealth-25-33.</a:t>
            </a:r>
            <a:endParaRPr/>
          </a:p>
        </p:txBody>
      </p:sp>
      <p:sp>
        <p:nvSpPr>
          <p:cNvPr id="81" name="Google Shape;8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Participant Information and Consent; Confidentiality and Data Management. Prepare protocol, information sheet, consent and route plan for ethics review. Separate consent for video, audio, de-identified quotations and identifiable-image display. Declining video/audio permits notes-based participation. Proposed seven-day window for removal of identifiable data is subject to approved protocol; anonymise irreversibly only after that window. Separate contact/consent records from coded research data. Confirm institution-approved storage, retention and contacts with Dr. Rui He before recruitment. Avoid faces, private screens, messages and payment details. Respect venue restrictions. Remove or obscure incidental private material and bystanders. Raw street footage is not anonymous. No raw participant media in public AI services or personal automatic cloud backups.</a:t>
            </a:r>
            <a:endParaRPr/>
          </a:p>
        </p:txBody>
      </p:sp>
      <p:sp>
        <p:nvSpPr>
          <p:cNvPr id="95" name="Google Shape;9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Research Timeline and Workload. Dates are 2026 planning targets, except published course milestones. P1 24 September: topic, literature, questions, methods and ethics materials. 25 September–7 October: clearance, route rehearsal, one pilot and if feasible two main sessions. P2 8 October: workflow, protocol revisions and actual approval/recruitment status. 9–28 October: remaining sessions and rolling analysis. P3 29 October: inventory, filtering and coding, aiming to close core recruitment. P4 12 November: synthesis, uncertainty and counterexamples. P5 26 November: design propositions, case demonstrations, limitations and substantial draft. Protect individual assessment on 3 December. Final report due 6 December: 5,000–8,000 English words, APA 7, declarations, PDF below 10 MB with plagiarism report. Budget: 132 team person-hours across 11 weeks, 33 per student, excluding classes and individual assessment. 16 literature +14 preparation +22 fieldwork +28 media/coding +12 synthesis +14 presentations +20 report +6 contingency. Drop optional participants before increasing workload.</a:t>
            </a:r>
            <a:endParaRPr/>
          </a:p>
        </p:txBody>
      </p:sp>
      <p:sp>
        <p:nvSpPr>
          <p:cNvPr id="110" name="Google Shape;11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t>Source: Safari_SD5008_Research_Proposal.docx, 19 September 2026. This presentation summarises a proposed study, not empirical findings.</a:t>
            </a:r>
            <a:endParaRPr/>
          </a:p>
          <a:p>
            <a:pPr indent="0" lvl="0" marL="0" rtl="0" algn="l">
              <a:lnSpc>
                <a:spcPct val="100000"/>
              </a:lnSpc>
              <a:spcBef>
                <a:spcPts val="0"/>
              </a:spcBef>
              <a:spcAft>
                <a:spcPts val="0"/>
              </a:spcAft>
              <a:buSzPts val="1400"/>
              <a:buNone/>
            </a:pPr>
            <a:r>
              <a:rPr lang="en-US" sz="1200"/>
              <a:t>Expected Outcome. Deliver a contextual information classification, preliminary guidance on timing, detail and delivery, and illustrated case narratives with counterexamples/boundary conditions. Examine self-described mental effort separately from physical tiredness. Consider heat, walking effort, time pressure, mood and prior tiredness as alternatives. The small convenience sample, assigned route, observer/camera presence, optional verbalisation, app differences and retrospective recall limit interpretation. No claims to direct neural attention measurement, causal effects on enjoyment, long-term withdrawal, isolating newcomer status, or generalisation to all Hong Kong newcomers, driving or cycling. Prototype comparisons and repeat sessions are outside the core plan. The framework’s completeness, usability and effectiveness need future evaluation.</a:t>
            </a:r>
            <a:endParaRPr/>
          </a:p>
          <a:p>
            <a:pPr indent="0" lvl="0" marL="0" rtl="0" algn="l">
              <a:lnSpc>
                <a:spcPct val="100000"/>
              </a:lnSpc>
              <a:spcBef>
                <a:spcPts val="0"/>
              </a:spcBef>
              <a:spcAft>
                <a:spcPts val="0"/>
              </a:spcAft>
              <a:buSzPts val="1400"/>
              <a:buNone/>
            </a:pPr>
            <a:r>
              <a:rPr lang="en-US" sz="1200"/>
              <a:t>Additional references in proposal: Chang (2013), https://doi.org/10.1080/14616688.2012.726270; Hardwicke et al. (2024), https://doi.org/10.1080/23748834.2024.2313307.</a:t>
            </a:r>
            <a:endParaRPr/>
          </a:p>
        </p:txBody>
      </p:sp>
      <p:sp>
        <p:nvSpPr>
          <p:cNvPr id="130" name="Google Shape;13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C39"/>
        </a:solidFill>
      </p:bgPr>
    </p:bg>
    <p:spTree>
      <p:nvGrpSpPr>
        <p:cNvPr id="15" name="Shape 15"/>
        <p:cNvGrpSpPr/>
        <p:nvPr/>
      </p:nvGrpSpPr>
      <p:grpSpPr>
        <a:xfrm>
          <a:off x="0" y="0"/>
          <a:ext cx="0" cy="0"/>
          <a:chOff x="0" y="0"/>
          <a:chExt cx="0" cy="0"/>
        </a:xfrm>
      </p:grpSpPr>
      <p:pic>
        <p:nvPicPr>
          <p:cNvPr id="16" name="Google Shape;16;p1" title="ChatGPT Image 22 Sept 2026, 23_00_34.png"/>
          <p:cNvPicPr preferRelativeResize="0"/>
          <p:nvPr/>
        </p:nvPicPr>
        <p:blipFill rotWithShape="1">
          <a:blip r:embed="rId3">
            <a:alphaModFix/>
          </a:blip>
          <a:srcRect b="8274" l="0" r="0" t="0"/>
          <a:stretch/>
        </p:blipFill>
        <p:spPr>
          <a:xfrm>
            <a:off x="6738790" y="1627350"/>
            <a:ext cx="5345876" cy="5230651"/>
          </a:xfrm>
          <a:prstGeom prst="rect">
            <a:avLst/>
          </a:prstGeom>
          <a:noFill/>
          <a:ln>
            <a:noFill/>
          </a:ln>
        </p:spPr>
      </p:pic>
      <p:sp>
        <p:nvSpPr>
          <p:cNvPr id="17" name="Google Shape;17;p1"/>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p1"/>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19" name="Google Shape;19;p1"/>
          <p:cNvSpPr/>
          <p:nvPr/>
        </p:nvSpPr>
        <p:spPr>
          <a:xfrm>
            <a:off x="685800" y="666750"/>
            <a:ext cx="10477500" cy="4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CFDAD5"/>
              </a:buClr>
              <a:buSzPts val="1650"/>
              <a:buFont typeface="Arial"/>
              <a:buNone/>
            </a:pPr>
            <a:r>
              <a:rPr b="0" i="0" lang="en-US" sz="1650" u="none" cap="none" strike="noStrike">
                <a:solidFill>
                  <a:srgbClr val="CFDAD5"/>
                </a:solidFill>
                <a:latin typeface="Arial"/>
                <a:ea typeface="Arial"/>
                <a:cs typeface="Arial"/>
                <a:sym typeface="Arial"/>
              </a:rPr>
              <a:t>TEAM SAFARI   /   SD5008 RESEARCH PROPOSAL</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685800" y="1676400"/>
            <a:ext cx="10477500" cy="26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950"/>
              <a:buFont typeface="Arial"/>
              <a:buNone/>
            </a:pPr>
            <a:r>
              <a:rPr b="1" i="0" lang="en-US" sz="4800" u="none" cap="none" strike="noStrike">
                <a:solidFill>
                  <a:srgbClr val="FFFFFF"/>
                </a:solidFill>
                <a:latin typeface="Arial"/>
                <a:ea typeface="Arial"/>
                <a:cs typeface="Arial"/>
                <a:sym typeface="Arial"/>
              </a:rPr>
              <a:t>Attention Allocation</a:t>
            </a:r>
            <a:endParaRPr b="0" i="0" sz="4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4950"/>
              <a:buFont typeface="Arial"/>
              <a:buNone/>
            </a:pPr>
            <a:r>
              <a:rPr b="1" i="0" lang="en-US" sz="4800" u="none" cap="none" strike="noStrike">
                <a:solidFill>
                  <a:srgbClr val="FFFFFF"/>
                </a:solidFill>
                <a:latin typeface="Arial"/>
                <a:ea typeface="Arial"/>
                <a:cs typeface="Arial"/>
                <a:sym typeface="Arial"/>
              </a:rPr>
              <a:t>and Navigation</a:t>
            </a:r>
            <a:endParaRPr b="0" i="0" sz="4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4950"/>
              <a:buFont typeface="Arial"/>
              <a:buNone/>
            </a:pPr>
            <a:r>
              <a:rPr b="1" i="0" lang="en-US" sz="4800" u="none" cap="none" strike="noStrike">
                <a:solidFill>
                  <a:srgbClr val="FFFFFF"/>
                </a:solidFill>
                <a:latin typeface="Arial"/>
                <a:ea typeface="Arial"/>
                <a:cs typeface="Arial"/>
                <a:sym typeface="Arial"/>
              </a:rPr>
              <a:t>Information Design</a:t>
            </a:r>
            <a:endParaRPr b="0" i="0" sz="4800" u="none" cap="none" strike="noStrike">
              <a:solidFill>
                <a:srgbClr val="000000"/>
              </a:solidFill>
              <a:latin typeface="Arial"/>
              <a:ea typeface="Arial"/>
              <a:cs typeface="Arial"/>
              <a:sym typeface="Arial"/>
            </a:endParaRPr>
          </a:p>
        </p:txBody>
      </p:sp>
      <p:sp>
        <p:nvSpPr>
          <p:cNvPr id="21" name="Google Shape;21;p1"/>
          <p:cNvSpPr/>
          <p:nvPr/>
        </p:nvSpPr>
        <p:spPr>
          <a:xfrm>
            <a:off x="714375" y="4192875"/>
            <a:ext cx="10001400" cy="571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5E3DC"/>
              </a:buClr>
              <a:buSzPts val="2625"/>
              <a:buFont typeface="Arial"/>
              <a:buNone/>
            </a:pPr>
            <a:r>
              <a:rPr lang="en-US" sz="2625">
                <a:solidFill>
                  <a:srgbClr val="D5E3DC"/>
                </a:solidFill>
              </a:rPr>
              <a:t>f</a:t>
            </a:r>
            <a:r>
              <a:rPr b="0" lang="en-US" sz="2625" u="none" cap="none" strike="noStrike">
                <a:solidFill>
                  <a:srgbClr val="D5E3DC"/>
                </a:solidFill>
                <a:latin typeface="Arial"/>
                <a:ea typeface="Arial"/>
                <a:cs typeface="Arial"/>
                <a:sym typeface="Arial"/>
              </a:rPr>
              <a:t>or</a:t>
            </a:r>
            <a:r>
              <a:rPr b="0" i="1" lang="en-US" sz="2625" u="none" cap="none" strike="noStrike">
                <a:solidFill>
                  <a:srgbClr val="D5E3DC"/>
                </a:solidFill>
                <a:latin typeface="Arial"/>
                <a:ea typeface="Arial"/>
                <a:cs typeface="Arial"/>
                <a:sym typeface="Arial"/>
              </a:rPr>
              <a:t> </a:t>
            </a:r>
            <a:r>
              <a:rPr i="1" lang="en-US" sz="3000">
                <a:solidFill>
                  <a:schemeClr val="lt1"/>
                </a:solidFill>
              </a:rPr>
              <a:t>N</a:t>
            </a:r>
            <a:r>
              <a:rPr b="0" i="1" lang="en-US" sz="3000" u="none" cap="none" strike="noStrike">
                <a:solidFill>
                  <a:schemeClr val="lt1"/>
                </a:solidFill>
                <a:latin typeface="Arial"/>
                <a:ea typeface="Arial"/>
                <a:cs typeface="Arial"/>
                <a:sym typeface="Arial"/>
              </a:rPr>
              <a:t>ewcomers to Hong Kong</a:t>
            </a:r>
            <a:endParaRPr b="0" i="1" sz="3000" u="none" cap="none" strike="noStrike">
              <a:solidFill>
                <a:schemeClr val="lt1"/>
              </a:solidFill>
              <a:latin typeface="Arial"/>
              <a:ea typeface="Arial"/>
              <a:cs typeface="Arial"/>
              <a:sym typeface="Arial"/>
            </a:endParaRPr>
          </a:p>
        </p:txBody>
      </p:sp>
      <p:sp>
        <p:nvSpPr>
          <p:cNvPr id="22" name="Google Shape;22;p1"/>
          <p:cNvSpPr/>
          <p:nvPr/>
        </p:nvSpPr>
        <p:spPr>
          <a:xfrm>
            <a:off x="714375" y="5534025"/>
            <a:ext cx="8763000" cy="6667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5E3DC"/>
              </a:buClr>
              <a:buSzPts val="1725"/>
              <a:buFont typeface="Arial"/>
              <a:buNone/>
            </a:pPr>
            <a:r>
              <a:rPr b="0" i="0" lang="en-US" sz="1725" u="none" cap="none" strike="noStrike">
                <a:solidFill>
                  <a:srgbClr val="D5E3DC"/>
                </a:solidFill>
                <a:latin typeface="Arial"/>
                <a:ea typeface="Arial"/>
                <a:cs typeface="Arial"/>
                <a:sym typeface="Arial"/>
              </a:rPr>
              <a:t>LIU Eric James   /   YANG Haolin</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D5E3DC"/>
              </a:buClr>
              <a:buSzPts val="1725"/>
              <a:buFont typeface="Arial"/>
              <a:buNone/>
            </a:pPr>
            <a:r>
              <a:rPr b="0" i="0" lang="en-US" sz="1725" u="none" cap="none" strike="noStrike">
                <a:solidFill>
                  <a:srgbClr val="D5E3DC"/>
                </a:solidFill>
                <a:latin typeface="Arial"/>
                <a:ea typeface="Arial"/>
                <a:cs typeface="Arial"/>
                <a:sym typeface="Arial"/>
              </a:rPr>
              <a:t>ZHANG Yichen   /   ZHU Kecheng</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8667596" y="714450"/>
            <a:ext cx="2762400" cy="304800"/>
          </a:xfrm>
          <a:prstGeom prst="rect">
            <a:avLst/>
          </a:prstGeom>
          <a:noFill/>
          <a:ln>
            <a:noFill/>
          </a:ln>
        </p:spPr>
        <p:txBody>
          <a:bodyPr anchorCtr="0" anchor="t" bIns="0" lIns="0" spcFirstLastPara="1" rIns="0" wrap="square" tIns="0">
            <a:noAutofit/>
          </a:bodyPr>
          <a:lstStyle/>
          <a:p>
            <a:pPr indent="0" lvl="0" marL="0" marR="0" rtl="0" algn="r">
              <a:lnSpc>
                <a:spcPct val="115000"/>
              </a:lnSpc>
              <a:spcBef>
                <a:spcPts val="0"/>
              </a:spcBef>
              <a:spcAft>
                <a:spcPts val="0"/>
              </a:spcAft>
              <a:buClr>
                <a:srgbClr val="D5E3DC"/>
              </a:buClr>
              <a:buSzPts val="1575"/>
              <a:buFont typeface="Arial"/>
              <a:buNone/>
            </a:pPr>
            <a:r>
              <a:rPr b="0" i="0" lang="en-US" sz="1575" u="none" cap="none" strike="noStrike">
                <a:solidFill>
                  <a:srgbClr val="D5E3DC"/>
                </a:solidFill>
                <a:latin typeface="Arial"/>
                <a:ea typeface="Arial"/>
                <a:cs typeface="Arial"/>
                <a:sym typeface="Arial"/>
              </a:rPr>
              <a:t>22 September 2026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3450"/>
              <a:buFont typeface="Arial"/>
              <a:buNone/>
            </a:pPr>
            <a:r>
              <a:rPr b="1" i="0" lang="en-US" sz="3450" u="none" cap="none" strike="noStrike">
                <a:solidFill>
                  <a:srgbClr val="173C39"/>
                </a:solidFill>
                <a:latin typeface="Arial"/>
                <a:ea typeface="Arial"/>
                <a:cs typeface="Arial"/>
                <a:sym typeface="Arial"/>
              </a:rPr>
              <a:t>Why this study? What will we ask?</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685800" y="1609725"/>
            <a:ext cx="4238625"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The design concern</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685800" y="2095500"/>
            <a:ext cx="4238625" cy="1485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250"/>
              <a:buFont typeface="Arial"/>
              <a:buNone/>
            </a:pPr>
            <a:r>
              <a:rPr b="0" i="0" lang="en-US" sz="2250" u="none" cap="none" strike="noStrike">
                <a:solidFill>
                  <a:srgbClr val="334A48"/>
                </a:solidFill>
                <a:latin typeface="Arial"/>
                <a:ea typeface="Arial"/>
                <a:cs typeface="Arial"/>
                <a:sym typeface="Arial"/>
              </a:rPr>
              <a:t>Newcomers must interpret directions while attending to streets, exits and entrances.</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685800" y="3686175"/>
            <a:ext cx="4238625" cy="14287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Information may reassure, or become hard to use when its timing, detail or context does not fit.</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85800" y="5400675"/>
            <a:ext cx="4238625" cy="6286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1650"/>
              <a:buFont typeface="Arial"/>
              <a:buNone/>
            </a:pPr>
            <a:r>
              <a:rPr b="0" i="0" lang="en-US" sz="1650" u="none" cap="none" strike="noStrike">
                <a:solidFill>
                  <a:srgbClr val="A75B35"/>
                </a:solidFill>
                <a:latin typeface="Arial"/>
                <a:ea typeface="Arial"/>
                <a:cs typeface="Arial"/>
                <a:sym typeface="Arial"/>
              </a:rPr>
              <a:t>Possible effects on enjoyment and exploration remain questions to investigate.</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5810250" y="1619250"/>
            <a:ext cx="5667375"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RQ1  Information and attention</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5810250" y="2105025"/>
            <a:ext cx="5667375" cy="8572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025"/>
              <a:buFont typeface="Arial"/>
              <a:buNone/>
            </a:pPr>
            <a:r>
              <a:rPr b="0" i="0" lang="en-US" sz="2025" u="none" cap="none" strike="noStrike">
                <a:solidFill>
                  <a:srgbClr val="334A48"/>
                </a:solidFill>
                <a:latin typeface="Arial"/>
                <a:ea typeface="Arial"/>
                <a:cs typeface="Arial"/>
                <a:sym typeface="Arial"/>
              </a:rPr>
              <a:t>What information is needed, and how do people coordinate phone use with their surroundings?</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5810250" y="3152775"/>
            <a:ext cx="5667375"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RQ2  Experience and consequences</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5810250" y="3638550"/>
            <a:ext cx="5667375" cy="876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025"/>
              <a:buFont typeface="Arial"/>
              <a:buNone/>
            </a:pPr>
            <a:r>
              <a:rPr b="0" i="0" lang="en-US" sz="2025" u="none" cap="none" strike="noStrike">
                <a:solidFill>
                  <a:srgbClr val="334A48"/>
                </a:solidFill>
                <a:latin typeface="Arial"/>
                <a:ea typeface="Arial"/>
                <a:cs typeface="Arial"/>
                <a:sym typeface="Arial"/>
              </a:rPr>
              <a:t>When do people feel overwhelmed or supported, and how do they describe effects on their outing?</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5810250" y="4686300"/>
            <a:ext cx="5667375"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RQ3  Design guidance</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5810250" y="5172075"/>
            <a:ext cx="5667375" cy="8572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025"/>
              <a:buFont typeface="Arial"/>
              <a:buNone/>
            </a:pPr>
            <a:r>
              <a:rPr b="0" i="0" lang="en-US" sz="2025" u="none" cap="none" strike="noStrike">
                <a:solidFill>
                  <a:srgbClr val="334A48"/>
                </a:solidFill>
                <a:latin typeface="Arial"/>
                <a:ea typeface="Arial"/>
                <a:cs typeface="Arial"/>
                <a:sym typeface="Arial"/>
              </a:rPr>
              <a:t>How can these accounts inform information classification, timing, detail and delivery?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45" name="Shape 45"/>
        <p:cNvGrpSpPr/>
        <p:nvPr/>
      </p:nvGrpSpPr>
      <p:grpSpPr>
        <a:xfrm>
          <a:off x="0" y="0"/>
          <a:ext cx="0" cy="0"/>
          <a:chOff x="0" y="0"/>
          <a:chExt cx="0" cy="0"/>
        </a:xfrm>
      </p:grpSpPr>
      <p:sp>
        <p:nvSpPr>
          <p:cNvPr id="46" name="Google Shape;46;p3"/>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3450"/>
              <a:buFont typeface="Arial"/>
              <a:buNone/>
            </a:pPr>
            <a:r>
              <a:rPr b="1" i="0" lang="en-US" sz="3450" u="none" cap="none" strike="noStrike">
                <a:solidFill>
                  <a:srgbClr val="173C39"/>
                </a:solidFill>
                <a:latin typeface="Arial"/>
                <a:ea typeface="Arial"/>
                <a:cs typeface="Arial"/>
                <a:sym typeface="Arial"/>
              </a:rPr>
              <a:t>Study scope and participants</a:t>
            </a:r>
            <a:endParaRPr b="0" i="0" sz="1400" u="none" cap="none" strike="noStrike">
              <a:solidFill>
                <a:srgbClr val="000000"/>
              </a:solidFill>
              <a:latin typeface="Arial"/>
              <a:ea typeface="Arial"/>
              <a:cs typeface="Arial"/>
              <a:sym typeface="Arial"/>
            </a:endParaRPr>
          </a:p>
        </p:txBody>
      </p:sp>
      <p:sp>
        <p:nvSpPr>
          <p:cNvPr id="47" name="Google Shape;47;p3"/>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48" name="Google Shape;48;p3"/>
          <p:cNvSpPr/>
          <p:nvPr/>
        </p:nvSpPr>
        <p:spPr>
          <a:xfrm>
            <a:off x="685800" y="1562100"/>
            <a:ext cx="1905000" cy="1285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7500"/>
              <a:buFont typeface="Arial"/>
              <a:buNone/>
            </a:pPr>
            <a:r>
              <a:rPr b="1" i="0" lang="en-US" sz="7500" u="none" cap="none" strike="noStrike">
                <a:solidFill>
                  <a:srgbClr val="A75B35"/>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
        <p:nvSpPr>
          <p:cNvPr id="49" name="Google Shape;49;p3"/>
          <p:cNvSpPr/>
          <p:nvPr/>
        </p:nvSpPr>
        <p:spPr>
          <a:xfrm>
            <a:off x="1305008" y="2188514"/>
            <a:ext cx="2857500" cy="457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325"/>
              <a:buFont typeface="Arial"/>
              <a:buNone/>
            </a:pPr>
            <a:r>
              <a:rPr b="1" i="0" lang="en-US" sz="2325" u="none" cap="none" strike="noStrike">
                <a:solidFill>
                  <a:srgbClr val="173C39"/>
                </a:solidFill>
                <a:latin typeface="Arial"/>
                <a:ea typeface="Arial"/>
                <a:cs typeface="Arial"/>
                <a:sym typeface="Arial"/>
              </a:rPr>
              <a:t>core participants</a:t>
            </a:r>
            <a:endParaRPr b="0" i="0" sz="1400" u="none" cap="none" strike="noStrike">
              <a:solidFill>
                <a:srgbClr val="000000"/>
              </a:solidFill>
              <a:latin typeface="Arial"/>
              <a:ea typeface="Arial"/>
              <a:cs typeface="Arial"/>
              <a:sym typeface="Arial"/>
            </a:endParaRPr>
          </a:p>
        </p:txBody>
      </p:sp>
      <p:sp>
        <p:nvSpPr>
          <p:cNvPr id="50" name="Google Shape;50;p3"/>
          <p:cNvSpPr/>
          <p:nvPr/>
        </p:nvSpPr>
        <p:spPr>
          <a:xfrm>
            <a:off x="685800" y="2847900"/>
            <a:ext cx="3528000" cy="1619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+ 1 separate pilot</a:t>
            </a:r>
            <a:endParaRPr b="0" i="0" sz="2100" u="none" cap="none" strike="noStrike">
              <a:solidFill>
                <a:srgbClr val="334A48"/>
              </a:solidFill>
              <a:latin typeface="Arial"/>
              <a:ea typeface="Arial"/>
              <a:cs typeface="Arial"/>
              <a:sym typeface="Arial"/>
            </a:endParaRPr>
          </a:p>
          <a:p>
            <a:pPr indent="0" lvl="0" marL="0" marR="0" rtl="0" algn="l">
              <a:lnSpc>
                <a:spcPct val="115000"/>
              </a:lnSpc>
              <a:spcBef>
                <a:spcPts val="100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 Up to 2 further cases if evidence gaps and time justify them</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5067300" y="1619250"/>
            <a:ext cx="64198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Who can take part?</a:t>
            </a:r>
            <a:endParaRPr b="0" i="0" sz="1400" u="none" cap="none" strike="noStrike">
              <a:solidFill>
                <a:srgbClr val="000000"/>
              </a:solidFill>
              <a:latin typeface="Arial"/>
              <a:ea typeface="Arial"/>
              <a:cs typeface="Arial"/>
              <a:sym typeface="Arial"/>
            </a:endParaRPr>
          </a:p>
        </p:txBody>
      </p:sp>
      <p:sp>
        <p:nvSpPr>
          <p:cNvPr id="52" name="Google Shape;52;p3"/>
          <p:cNvSpPr/>
          <p:nvPr/>
        </p:nvSpPr>
        <p:spPr>
          <a:xfrm>
            <a:off x="5067300" y="2105025"/>
            <a:ext cx="6419850" cy="12858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Adults who moved to Hong Kong within 6 months, use smartphone navigation, are unfamiliar with the route and can comfortably walk it.</a:t>
            </a:r>
            <a:endParaRPr b="0" i="0" sz="1400" u="none" cap="none" strike="noStrike">
              <a:solidFill>
                <a:srgbClr val="000000"/>
              </a:solidFill>
              <a:latin typeface="Arial"/>
              <a:ea typeface="Arial"/>
              <a:cs typeface="Arial"/>
              <a:sym typeface="Arial"/>
            </a:endParaRPr>
          </a:p>
        </p:txBody>
      </p:sp>
      <p:sp>
        <p:nvSpPr>
          <p:cNvPr id="53" name="Google Shape;53;p3"/>
          <p:cNvSpPr/>
          <p:nvPr/>
        </p:nvSpPr>
        <p:spPr>
          <a:xfrm>
            <a:off x="5067300" y="3705225"/>
            <a:ext cx="64198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A focused qualitative field study</a:t>
            </a:r>
            <a:endParaRPr b="0" i="0" sz="1400" u="none" cap="none" strike="noStrike">
              <a:solidFill>
                <a:srgbClr val="000000"/>
              </a:solidFill>
              <a:latin typeface="Arial"/>
              <a:ea typeface="Arial"/>
              <a:cs typeface="Arial"/>
              <a:sym typeface="Arial"/>
            </a:endParaRPr>
          </a:p>
        </p:txBody>
      </p:sp>
      <p:sp>
        <p:nvSpPr>
          <p:cNvPr id="54" name="Google Shape;54;p3"/>
          <p:cNvSpPr/>
          <p:nvPr/>
        </p:nvSpPr>
        <p:spPr>
          <a:xfrm>
            <a:off x="5067300" y="4191000"/>
            <a:ext cx="6419850" cy="12382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One public route from a transport exit to a destination entrance. Participants use their usual app and settings at their own pace.</a:t>
            </a:r>
            <a:endParaRPr b="0" i="0" sz="1400" u="none" cap="none" strike="noStrike">
              <a:solidFill>
                <a:srgbClr val="000000"/>
              </a:solidFill>
              <a:latin typeface="Arial"/>
              <a:ea typeface="Arial"/>
              <a:cs typeface="Arial"/>
              <a:sym typeface="Arial"/>
            </a:endParaRPr>
          </a:p>
        </p:txBody>
      </p:sp>
      <p:sp>
        <p:nvSpPr>
          <p:cNvPr id="55" name="Google Shape;55;p3"/>
          <p:cNvSpPr/>
          <p:nvPr/>
        </p:nvSpPr>
        <p:spPr>
          <a:xfrm>
            <a:off x="5067300" y="5562600"/>
            <a:ext cx="6419850" cy="647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725"/>
              <a:buFont typeface="Arial"/>
              <a:buNone/>
            </a:pPr>
            <a:r>
              <a:rPr b="0" i="0" lang="en-US" sz="1725" u="none" cap="none" strike="noStrike">
                <a:solidFill>
                  <a:srgbClr val="627571"/>
                </a:solidFill>
                <a:latin typeface="Arial"/>
                <a:ea typeface="Arial"/>
                <a:cs typeface="Arial"/>
                <a:sym typeface="Arial"/>
              </a:rPr>
              <a:t>English or Mandarin. </a:t>
            </a:r>
            <a:endParaRPr b="0" i="0" sz="1725" u="none" cap="none" strike="noStrike">
              <a:solidFill>
                <a:srgbClr val="627571"/>
              </a:solidFill>
              <a:latin typeface="Arial"/>
              <a:ea typeface="Arial"/>
              <a:cs typeface="Arial"/>
              <a:sym typeface="Arial"/>
            </a:endParaRPr>
          </a:p>
          <a:p>
            <a:pPr indent="0" lvl="0" marL="0" marR="0" rtl="0" algn="l">
              <a:lnSpc>
                <a:spcPct val="115000"/>
              </a:lnSpc>
              <a:spcBef>
                <a:spcPts val="0"/>
              </a:spcBef>
              <a:spcAft>
                <a:spcPts val="0"/>
              </a:spcAft>
              <a:buClr>
                <a:srgbClr val="627571"/>
              </a:buClr>
              <a:buSzPts val="1725"/>
              <a:buFont typeface="Arial"/>
              <a:buNone/>
            </a:pPr>
            <a:r>
              <a:rPr b="0" i="0" lang="en-US" sz="1725" u="none" cap="none" strike="noStrike">
                <a:solidFill>
                  <a:srgbClr val="627571"/>
                </a:solidFill>
                <a:latin typeface="Arial"/>
                <a:ea typeface="Arial"/>
                <a:cs typeface="Arial"/>
                <a:sym typeface="Arial"/>
              </a:rPr>
              <a:t>Voluntary recruitment through university and newcomer networks.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4"/>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3450"/>
              <a:buFont typeface="Arial"/>
              <a:buNone/>
            </a:pPr>
            <a:r>
              <a:rPr b="1" i="0" lang="en-US" sz="3450" u="none" cap="none" strike="noStrike">
                <a:solidFill>
                  <a:srgbClr val="173C39"/>
                </a:solidFill>
                <a:latin typeface="Arial"/>
                <a:ea typeface="Arial"/>
                <a:cs typeface="Arial"/>
                <a:sym typeface="Arial"/>
              </a:rPr>
              <a:t>One session: approximately 45–60 minutes</a:t>
            </a:r>
            <a:endParaRPr b="0" i="0" sz="1400" u="none" cap="none" strike="noStrike">
              <a:solidFill>
                <a:srgbClr val="000000"/>
              </a:solidFill>
              <a:latin typeface="Arial"/>
              <a:ea typeface="Arial"/>
              <a:cs typeface="Arial"/>
              <a:sym typeface="Arial"/>
            </a:endParaRPr>
          </a:p>
        </p:txBody>
      </p:sp>
      <p:sp>
        <p:nvSpPr>
          <p:cNvPr id="62" name="Google Shape;62;p4"/>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63" name="Google Shape;63;p4"/>
          <p:cNvSpPr/>
          <p:nvPr/>
        </p:nvSpPr>
        <p:spPr>
          <a:xfrm>
            <a:off x="685800" y="1743075"/>
            <a:ext cx="32194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01  Consent and profile</a:t>
            </a:r>
            <a:endParaRPr b="0" i="0" sz="1400" u="none" cap="none" strike="noStrike">
              <a:solidFill>
                <a:srgbClr val="000000"/>
              </a:solidFill>
              <a:latin typeface="Arial"/>
              <a:ea typeface="Arial"/>
              <a:cs typeface="Arial"/>
              <a:sym typeface="Arial"/>
            </a:endParaRPr>
          </a:p>
        </p:txBody>
      </p:sp>
      <p:sp>
        <p:nvSpPr>
          <p:cNvPr id="64" name="Google Shape;64;p4"/>
          <p:cNvSpPr/>
          <p:nvPr/>
        </p:nvSpPr>
        <p:spPr>
          <a:xfrm>
            <a:off x="685800" y="2228850"/>
            <a:ext cx="3219450" cy="1714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5–10 min</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Confirm consent choices, route familiarity and navigation habits.</a:t>
            </a:r>
            <a:endParaRPr b="0" i="0" sz="1400" u="none" cap="none" strike="noStrike">
              <a:solidFill>
                <a:srgbClr val="000000"/>
              </a:solidFill>
              <a:latin typeface="Arial"/>
              <a:ea typeface="Arial"/>
              <a:cs typeface="Arial"/>
              <a:sym typeface="Arial"/>
            </a:endParaRPr>
          </a:p>
        </p:txBody>
      </p:sp>
      <p:sp>
        <p:nvSpPr>
          <p:cNvPr id="65" name="Google Shape;65;p4"/>
          <p:cNvSpPr/>
          <p:nvPr/>
        </p:nvSpPr>
        <p:spPr>
          <a:xfrm>
            <a:off x="4495800" y="1743075"/>
            <a:ext cx="32194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02  Observed walk</a:t>
            </a:r>
            <a:endParaRPr b="0" i="0" sz="1400" u="none" cap="none" strike="noStrike">
              <a:solidFill>
                <a:srgbClr val="000000"/>
              </a:solidFill>
              <a:latin typeface="Arial"/>
              <a:ea typeface="Arial"/>
              <a:cs typeface="Arial"/>
              <a:sym typeface="Arial"/>
            </a:endParaRPr>
          </a:p>
        </p:txBody>
      </p:sp>
      <p:sp>
        <p:nvSpPr>
          <p:cNvPr id="66" name="Google Shape;66;p4"/>
          <p:cNvSpPr/>
          <p:nvPr/>
        </p:nvSpPr>
        <p:spPr>
          <a:xfrm>
            <a:off x="4495800" y="2228850"/>
            <a:ext cx="3219450" cy="1714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15–20 min</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Record event notes and consented clips. Invite optional brief comments.</a:t>
            </a:r>
            <a:endParaRPr b="0" i="0" sz="1400" u="none" cap="none" strike="noStrike">
              <a:solidFill>
                <a:srgbClr val="000000"/>
              </a:solidFill>
              <a:latin typeface="Arial"/>
              <a:ea typeface="Arial"/>
              <a:cs typeface="Arial"/>
              <a:sym typeface="Arial"/>
            </a:endParaRPr>
          </a:p>
        </p:txBody>
      </p:sp>
      <p:sp>
        <p:nvSpPr>
          <p:cNvPr id="67" name="Google Shape;67;p4"/>
          <p:cNvSpPr/>
          <p:nvPr/>
        </p:nvSpPr>
        <p:spPr>
          <a:xfrm>
            <a:off x="8305800" y="1743075"/>
            <a:ext cx="320040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03  Debrief and review</a:t>
            </a:r>
            <a:endParaRPr b="0" i="0" sz="1400" u="none" cap="none" strike="noStrike">
              <a:solidFill>
                <a:srgbClr val="000000"/>
              </a:solidFill>
              <a:latin typeface="Arial"/>
              <a:ea typeface="Arial"/>
              <a:cs typeface="Arial"/>
              <a:sym typeface="Arial"/>
            </a:endParaRPr>
          </a:p>
        </p:txBody>
      </p:sp>
      <p:sp>
        <p:nvSpPr>
          <p:cNvPr id="68" name="Google Shape;68;p4"/>
          <p:cNvSpPr/>
          <p:nvPr/>
        </p:nvSpPr>
        <p:spPr>
          <a:xfrm>
            <a:off x="8305800" y="2228850"/>
            <a:ext cx="3200400" cy="17145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25–30 min</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Review 3–5 episodes, including a helpful or smooth moment.</a:t>
            </a:r>
            <a:endParaRPr b="0" i="0" sz="1400" u="none" cap="none" strike="noStrike">
              <a:solidFill>
                <a:srgbClr val="000000"/>
              </a:solidFill>
              <a:latin typeface="Arial"/>
              <a:ea typeface="Arial"/>
              <a:cs typeface="Arial"/>
              <a:sym typeface="Arial"/>
            </a:endParaRPr>
          </a:p>
        </p:txBody>
      </p:sp>
      <p:sp>
        <p:nvSpPr>
          <p:cNvPr id="69" name="Google Shape;69;p4"/>
          <p:cNvSpPr/>
          <p:nvPr/>
        </p:nvSpPr>
        <p:spPr>
          <a:xfrm>
            <a:off x="685800" y="4410075"/>
            <a:ext cx="6858000" cy="1143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700"/>
              <a:buFont typeface="Arial"/>
              <a:buNone/>
            </a:pPr>
            <a:r>
              <a:rPr b="1" i="0" lang="en-US" sz="2700" u="none" cap="none" strike="noStrike">
                <a:solidFill>
                  <a:srgbClr val="173C39"/>
                </a:solidFill>
                <a:latin typeface="Arial"/>
                <a:ea typeface="Arial"/>
                <a:cs typeface="Arial"/>
                <a:sym typeface="Arial"/>
              </a:rPr>
              <a:t>“What were you trying to work out?”</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173C39"/>
              </a:buClr>
              <a:buSzPts val="2700"/>
              <a:buFont typeface="Arial"/>
              <a:buNone/>
            </a:pPr>
            <a:r>
              <a:rPr b="1" i="0" lang="en-US" sz="2700" u="none" cap="none" strike="noStrike">
                <a:solidFill>
                  <a:srgbClr val="173C39"/>
                </a:solidFill>
                <a:latin typeface="Arial"/>
                <a:ea typeface="Arial"/>
                <a:cs typeface="Arial"/>
                <a:sym typeface="Arial"/>
              </a:rPr>
              <a:t>“How did that moment feel?”</a:t>
            </a:r>
            <a:endParaRPr b="0" i="0" sz="1400" u="none" cap="none" strike="noStrike">
              <a:solidFill>
                <a:srgbClr val="000000"/>
              </a:solidFill>
              <a:latin typeface="Arial"/>
              <a:ea typeface="Arial"/>
              <a:cs typeface="Arial"/>
              <a:sym typeface="Arial"/>
            </a:endParaRPr>
          </a:p>
        </p:txBody>
      </p:sp>
      <p:sp>
        <p:nvSpPr>
          <p:cNvPr id="70" name="Google Shape;70;p4"/>
          <p:cNvSpPr/>
          <p:nvPr/>
        </p:nvSpPr>
        <p:spPr>
          <a:xfrm>
            <a:off x="8305800" y="4371975"/>
            <a:ext cx="3200400" cy="16859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1875"/>
              <a:buFont typeface="Arial"/>
              <a:buNone/>
            </a:pPr>
            <a:r>
              <a:rPr b="0" i="0" lang="en-US" sz="1875" u="none" cap="none" strike="noStrike">
                <a:solidFill>
                  <a:srgbClr val="334A48"/>
                </a:solidFill>
                <a:latin typeface="Arial"/>
                <a:ea typeface="Arial"/>
                <a:cs typeface="Arial"/>
                <a:sym typeface="Arial"/>
              </a:rPr>
              <a:t>Explore enjoyment, confidence and willingness to continue. Separate observed actions, recalled experiences and hypothetical intentions.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74" name="Shape 74"/>
        <p:cNvGrpSpPr/>
        <p:nvPr/>
      </p:nvGrpSpPr>
      <p:grpSpPr>
        <a:xfrm>
          <a:off x="0" y="0"/>
          <a:ext cx="0" cy="0"/>
          <a:chOff x="0" y="0"/>
          <a:chExt cx="0" cy="0"/>
        </a:xfrm>
      </p:grpSpPr>
      <p:sp>
        <p:nvSpPr>
          <p:cNvPr id="75" name="Google Shape;75;p11"/>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3450"/>
              <a:buFont typeface="Arial"/>
              <a:buNone/>
            </a:pPr>
            <a:r>
              <a:rPr b="1" i="0" lang="en-US" sz="3450" u="none" cap="none" strike="noStrike">
                <a:solidFill>
                  <a:srgbClr val="173C39"/>
                </a:solidFill>
                <a:latin typeface="Arial"/>
                <a:ea typeface="Arial"/>
                <a:cs typeface="Arial"/>
                <a:sym typeface="Arial"/>
              </a:rPr>
              <a:t>Data collection methods</a:t>
            </a:r>
            <a:endParaRPr/>
          </a:p>
        </p:txBody>
      </p:sp>
      <p:graphicFrame>
        <p:nvGraphicFramePr>
          <p:cNvPr id="76" name="Google Shape;76;p11"/>
          <p:cNvGraphicFramePr/>
          <p:nvPr/>
        </p:nvGraphicFramePr>
        <p:xfrm>
          <a:off x="685800" y="1571625"/>
          <a:ext cx="3000000" cy="3000000"/>
        </p:xfrm>
        <a:graphic>
          <a:graphicData uri="http://schemas.openxmlformats.org/drawingml/2006/table">
            <a:tbl>
              <a:tblPr>
                <a:noFill/>
                <a:tableStyleId>{2CFD217D-D988-4FDB-A875-FAF5CC902C0D}</a:tableStyleId>
              </a:tblPr>
              <a:tblGrid>
                <a:gridCol w="933450"/>
                <a:gridCol w="4229100"/>
                <a:gridCol w="5657850"/>
              </a:tblGrid>
              <a:tr h="619125">
                <a:tc>
                  <a:txBody>
                    <a:bodyPr/>
                    <a:lstStyle/>
                    <a:p>
                      <a:pPr indent="0" lvl="0" marL="0" marR="0" rtl="0" algn="l">
                        <a:lnSpc>
                          <a:spcPct val="115000"/>
                        </a:lnSpc>
                        <a:spcBef>
                          <a:spcPts val="0"/>
                        </a:spcBef>
                        <a:spcAft>
                          <a:spcPts val="0"/>
                        </a:spcAft>
                        <a:buClr>
                          <a:srgbClr val="000000"/>
                        </a:buClr>
                        <a:buSzPts val="2025"/>
                        <a:buFont typeface="Arial"/>
                        <a:buNone/>
                      </a:pPr>
                      <a:r>
                        <a:rPr b="1" lang="en-US" sz="2025" u="none" cap="none" strike="noStrike">
                          <a:solidFill>
                            <a:srgbClr val="FFFFFF"/>
                          </a:solidFill>
                          <a:latin typeface="Arial"/>
                          <a:ea typeface="Arial"/>
                          <a:cs typeface="Arial"/>
                          <a:sym typeface="Arial"/>
                        </a:rPr>
                        <a:t>RQ</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334A48"/>
                    </a:solidFill>
                  </a:tcPr>
                </a:tc>
                <a:tc>
                  <a:txBody>
                    <a:bodyPr/>
                    <a:lstStyle/>
                    <a:p>
                      <a:pPr indent="0" lvl="0" marL="0" marR="0" rtl="0" algn="l">
                        <a:lnSpc>
                          <a:spcPct val="115000"/>
                        </a:lnSpc>
                        <a:spcBef>
                          <a:spcPts val="0"/>
                        </a:spcBef>
                        <a:spcAft>
                          <a:spcPts val="0"/>
                        </a:spcAft>
                        <a:buClr>
                          <a:srgbClr val="000000"/>
                        </a:buClr>
                        <a:buSzPts val="2025"/>
                        <a:buFont typeface="Arial"/>
                        <a:buNone/>
                      </a:pPr>
                      <a:r>
                        <a:rPr b="1" lang="en-US" sz="2025" u="none" cap="none" strike="noStrike">
                          <a:solidFill>
                            <a:srgbClr val="FFFFFF"/>
                          </a:solidFill>
                          <a:latin typeface="Arial"/>
                          <a:ea typeface="Arial"/>
                          <a:cs typeface="Arial"/>
                          <a:sym typeface="Arial"/>
                        </a:rPr>
                        <a:t>Evidence needed</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627571"/>
                    </a:solidFill>
                  </a:tcPr>
                </a:tc>
                <a:tc>
                  <a:txBody>
                    <a:bodyPr/>
                    <a:lstStyle/>
                    <a:p>
                      <a:pPr indent="0" lvl="0" marL="0" marR="0" rtl="0" algn="l">
                        <a:lnSpc>
                          <a:spcPct val="115000"/>
                        </a:lnSpc>
                        <a:spcBef>
                          <a:spcPts val="0"/>
                        </a:spcBef>
                        <a:spcAft>
                          <a:spcPts val="0"/>
                        </a:spcAft>
                        <a:buClr>
                          <a:srgbClr val="000000"/>
                        </a:buClr>
                        <a:buSzPts val="2025"/>
                        <a:buFont typeface="Arial"/>
                        <a:buNone/>
                      </a:pPr>
                      <a:r>
                        <a:rPr b="1" lang="en-US" sz="2025" u="none" cap="none" strike="noStrike">
                          <a:solidFill>
                            <a:srgbClr val="FFFFFF"/>
                          </a:solidFill>
                          <a:latin typeface="Arial"/>
                          <a:ea typeface="Arial"/>
                          <a:cs typeface="Arial"/>
                          <a:sym typeface="Arial"/>
                        </a:rPr>
                        <a:t>Collection and analysis</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627571"/>
                    </a:solidFill>
                  </a:tcPr>
                </a:tc>
              </a:tr>
              <a:tr h="1066800">
                <a:tc>
                  <a:txBody>
                    <a:bodyPr/>
                    <a:lstStyle/>
                    <a:p>
                      <a:pPr indent="0" lvl="0" marL="0" marR="0" rtl="0" algn="l">
                        <a:lnSpc>
                          <a:spcPct val="115000"/>
                        </a:lnSpc>
                        <a:spcBef>
                          <a:spcPts val="0"/>
                        </a:spcBef>
                        <a:spcAft>
                          <a:spcPts val="0"/>
                        </a:spcAft>
                        <a:buClr>
                          <a:srgbClr val="000000"/>
                        </a:buClr>
                        <a:buSzPts val="1950"/>
                        <a:buFont typeface="Arial"/>
                        <a:buNone/>
                      </a:pPr>
                      <a:r>
                        <a:rPr b="1" lang="en-US" sz="1950" u="none" cap="none" strike="noStrike">
                          <a:solidFill>
                            <a:srgbClr val="A75B35"/>
                          </a:solidFill>
                          <a:latin typeface="Arial"/>
                          <a:ea typeface="Arial"/>
                          <a:cs typeface="Arial"/>
                          <a:sym typeface="Arial"/>
                        </a:rPr>
                        <a:t>RQ1</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F7F6F2"/>
                    </a:solidFill>
                  </a:tcPr>
                </a:tc>
                <a:tc>
                  <a:txBody>
                    <a:bodyPr/>
                    <a:lstStyle/>
                    <a:p>
                      <a:pPr indent="0" lvl="0" marL="0" marR="0" rtl="0" algn="l">
                        <a:lnSpc>
                          <a:spcPct val="115000"/>
                        </a:lnSpc>
                        <a:spcBef>
                          <a:spcPts val="0"/>
                        </a:spcBef>
                        <a:spcAft>
                          <a:spcPts val="0"/>
                        </a:spcAft>
                        <a:buClr>
                          <a:srgbClr val="000000"/>
                        </a:buClr>
                        <a:buSzPts val="1950"/>
                        <a:buFont typeface="Arial"/>
                        <a:buNone/>
                      </a:pPr>
                      <a:r>
                        <a:rPr b="0" lang="en-US" sz="1950" u="none" cap="none" strike="noStrike">
                          <a:solidFill>
                            <a:srgbClr val="334A48"/>
                          </a:solidFill>
                          <a:latin typeface="Arial"/>
                          <a:ea typeface="Arial"/>
                          <a:cs typeface="Arial"/>
                          <a:sym typeface="Arial"/>
                        </a:rPr>
                        <a:t>Information needed, visible actions and journey stages</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F7F6F2"/>
                    </a:solidFill>
                  </a:tcPr>
                </a:tc>
                <a:tc>
                  <a:txBody>
                    <a:bodyPr/>
                    <a:lstStyle/>
                    <a:p>
                      <a:pPr indent="0" lvl="0" marL="0" marR="0" rtl="0" algn="l">
                        <a:lnSpc>
                          <a:spcPct val="115000"/>
                        </a:lnSpc>
                        <a:spcBef>
                          <a:spcPts val="0"/>
                        </a:spcBef>
                        <a:spcAft>
                          <a:spcPts val="0"/>
                        </a:spcAft>
                        <a:buClr>
                          <a:srgbClr val="000000"/>
                        </a:buClr>
                        <a:buSzPts val="1950"/>
                        <a:buFont typeface="Arial"/>
                        <a:buNone/>
                      </a:pPr>
                      <a:r>
                        <a:rPr b="0" lang="en-US" sz="1950" u="none" cap="none" strike="noStrike">
                          <a:solidFill>
                            <a:srgbClr val="334A48"/>
                          </a:solidFill>
                          <a:latin typeface="Arial"/>
                          <a:ea typeface="Arial"/>
                          <a:cs typeface="Arial"/>
                          <a:sym typeface="Arial"/>
                        </a:rPr>
                        <a:t>A short profile interview, observed route and episode timeline.</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F7F6F2"/>
                    </a:solidFill>
                  </a:tcPr>
                </a:tc>
              </a:tr>
              <a:tr h="1438275">
                <a:tc>
                  <a:txBody>
                    <a:bodyPr/>
                    <a:lstStyle/>
                    <a:p>
                      <a:pPr indent="0" lvl="0" marL="0" marR="0" rtl="0" algn="l">
                        <a:lnSpc>
                          <a:spcPct val="115000"/>
                        </a:lnSpc>
                        <a:spcBef>
                          <a:spcPts val="0"/>
                        </a:spcBef>
                        <a:spcAft>
                          <a:spcPts val="0"/>
                        </a:spcAft>
                        <a:buClr>
                          <a:srgbClr val="000000"/>
                        </a:buClr>
                        <a:buSzPts val="1950"/>
                        <a:buFont typeface="Arial"/>
                        <a:buNone/>
                      </a:pPr>
                      <a:r>
                        <a:rPr b="1" lang="en-US" sz="1950" u="none" cap="none" strike="noStrike">
                          <a:solidFill>
                            <a:srgbClr val="A75B35"/>
                          </a:solidFill>
                          <a:latin typeface="Arial"/>
                          <a:ea typeface="Arial"/>
                          <a:cs typeface="Arial"/>
                          <a:sym typeface="Arial"/>
                        </a:rPr>
                        <a:t>RQ2</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ECEFE9"/>
                    </a:solidFill>
                  </a:tcPr>
                </a:tc>
                <a:tc>
                  <a:txBody>
                    <a:bodyPr/>
                    <a:lstStyle/>
                    <a:p>
                      <a:pPr indent="0" lvl="0" marL="0" marR="0" rtl="0" algn="l">
                        <a:lnSpc>
                          <a:spcPct val="115000"/>
                        </a:lnSpc>
                        <a:spcBef>
                          <a:spcPts val="0"/>
                        </a:spcBef>
                        <a:spcAft>
                          <a:spcPts val="0"/>
                        </a:spcAft>
                        <a:buClr>
                          <a:srgbClr val="000000"/>
                        </a:buClr>
                        <a:buSzPts val="1950"/>
                        <a:buFont typeface="Arial"/>
                        <a:buNone/>
                      </a:pPr>
                      <a:r>
                        <a:rPr b="0" lang="en-US" sz="1950" u="none" cap="none" strike="noStrike">
                          <a:solidFill>
                            <a:srgbClr val="334A48"/>
                          </a:solidFill>
                          <a:latin typeface="Arial"/>
                          <a:ea typeface="Arial"/>
                          <a:cs typeface="Arial"/>
                          <a:sym typeface="Arial"/>
                        </a:rPr>
                        <a:t>Reported experience, contextual triggers and perceived outing consequences</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ECEFE9"/>
                    </a:solidFill>
                  </a:tcPr>
                </a:tc>
                <a:tc>
                  <a:txBody>
                    <a:bodyPr/>
                    <a:lstStyle/>
                    <a:p>
                      <a:pPr indent="0" lvl="0" marL="0" marR="0" rtl="0" algn="l">
                        <a:lnSpc>
                          <a:spcPct val="115000"/>
                        </a:lnSpc>
                        <a:spcBef>
                          <a:spcPts val="0"/>
                        </a:spcBef>
                        <a:spcAft>
                          <a:spcPts val="0"/>
                        </a:spcAft>
                        <a:buClr>
                          <a:srgbClr val="000000"/>
                        </a:buClr>
                        <a:buSzPts val="1950"/>
                        <a:buFont typeface="Arial"/>
                        <a:buNone/>
                      </a:pPr>
                      <a:r>
                        <a:rPr b="0" lang="en-US" sz="1950" u="none" cap="none" strike="noStrike">
                          <a:solidFill>
                            <a:srgbClr val="334A48"/>
                          </a:solidFill>
                          <a:latin typeface="Arial"/>
                          <a:ea typeface="Arial"/>
                          <a:cs typeface="Arial"/>
                          <a:sym typeface="Arial"/>
                        </a:rPr>
                        <a:t>Optional brief comments, key-episode video and retrospective interviewing; distinguish reports from researcher inference.</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ECEFE9"/>
                    </a:solidFill>
                  </a:tcPr>
                </a:tc>
              </a:tr>
              <a:tr h="1152525">
                <a:tc>
                  <a:txBody>
                    <a:bodyPr/>
                    <a:lstStyle/>
                    <a:p>
                      <a:pPr indent="0" lvl="0" marL="0" marR="0" rtl="0" algn="l">
                        <a:lnSpc>
                          <a:spcPct val="115000"/>
                        </a:lnSpc>
                        <a:spcBef>
                          <a:spcPts val="0"/>
                        </a:spcBef>
                        <a:spcAft>
                          <a:spcPts val="0"/>
                        </a:spcAft>
                        <a:buClr>
                          <a:srgbClr val="000000"/>
                        </a:buClr>
                        <a:buSzPts val="1950"/>
                        <a:buFont typeface="Arial"/>
                        <a:buNone/>
                      </a:pPr>
                      <a:r>
                        <a:rPr b="1" lang="en-US" sz="1950" u="none" cap="none" strike="noStrike">
                          <a:solidFill>
                            <a:srgbClr val="A75B35"/>
                          </a:solidFill>
                          <a:latin typeface="Arial"/>
                          <a:ea typeface="Arial"/>
                          <a:cs typeface="Arial"/>
                          <a:sym typeface="Arial"/>
                        </a:rPr>
                        <a:t>RQ3</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F7F6F2"/>
                    </a:solidFill>
                  </a:tcPr>
                </a:tc>
                <a:tc>
                  <a:txBody>
                    <a:bodyPr/>
                    <a:lstStyle/>
                    <a:p>
                      <a:pPr indent="0" lvl="0" marL="0" marR="0" rtl="0" algn="l">
                        <a:lnSpc>
                          <a:spcPct val="115000"/>
                        </a:lnSpc>
                        <a:spcBef>
                          <a:spcPts val="0"/>
                        </a:spcBef>
                        <a:spcAft>
                          <a:spcPts val="0"/>
                        </a:spcAft>
                        <a:buClr>
                          <a:srgbClr val="000000"/>
                        </a:buClr>
                        <a:buSzPts val="1950"/>
                        <a:buFont typeface="Arial"/>
                        <a:buNone/>
                      </a:pPr>
                      <a:r>
                        <a:rPr b="0" lang="en-US" sz="1950" u="none" cap="none" strike="noStrike">
                          <a:solidFill>
                            <a:srgbClr val="334A48"/>
                          </a:solidFill>
                          <a:latin typeface="Arial"/>
                          <a:ea typeface="Arial"/>
                          <a:cs typeface="Arial"/>
                          <a:sym typeface="Arial"/>
                        </a:rPr>
                        <a:t>Information roles, contextual demands and helpful support</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F7F6F2"/>
                    </a:solidFill>
                  </a:tcPr>
                </a:tc>
                <a:tc>
                  <a:txBody>
                    <a:bodyPr/>
                    <a:lstStyle/>
                    <a:p>
                      <a:pPr indent="0" lvl="0" marL="0" marR="0" rtl="0" algn="l">
                        <a:lnSpc>
                          <a:spcPct val="115000"/>
                        </a:lnSpc>
                        <a:spcBef>
                          <a:spcPts val="0"/>
                        </a:spcBef>
                        <a:spcAft>
                          <a:spcPts val="0"/>
                        </a:spcAft>
                        <a:buClr>
                          <a:srgbClr val="000000"/>
                        </a:buClr>
                        <a:buSzPts val="1950"/>
                        <a:buFont typeface="Arial"/>
                        <a:buNone/>
                      </a:pPr>
                      <a:r>
                        <a:rPr b="0" lang="en-US" sz="1950" u="none" cap="none" strike="noStrike">
                          <a:solidFill>
                            <a:srgbClr val="334A48"/>
                          </a:solidFill>
                          <a:latin typeface="Arial"/>
                          <a:ea typeface="Arial"/>
                          <a:cs typeface="Arial"/>
                          <a:sym typeface="Arial"/>
                        </a:rPr>
                        <a:t>Cross-case matrix linking reported experience, observed episodes and design propositions.</a:t>
                      </a:r>
                      <a:endParaRPr/>
                    </a:p>
                  </a:txBody>
                  <a:tcPr marT="45725" marB="45725" marR="91450" marL="91450" anchor="ctr">
                    <a:lnL cap="flat" cmpd="sng" w="38100">
                      <a:solidFill>
                        <a:srgbClr val="F7F6F2"/>
                      </a:solidFill>
                      <a:prstDash val="solid"/>
                      <a:round/>
                      <a:headEnd len="sm" w="sm" type="none"/>
                      <a:tailEnd len="sm" w="sm" type="none"/>
                    </a:lnL>
                    <a:lnR cap="flat" cmpd="sng" w="38100">
                      <a:solidFill>
                        <a:srgbClr val="F7F6F2"/>
                      </a:solidFill>
                      <a:prstDash val="solid"/>
                      <a:round/>
                      <a:headEnd len="sm" w="sm" type="none"/>
                      <a:tailEnd len="sm" w="sm" type="none"/>
                    </a:lnR>
                    <a:lnT cap="flat" cmpd="sng" w="38100">
                      <a:solidFill>
                        <a:srgbClr val="F7F6F2"/>
                      </a:solidFill>
                      <a:prstDash val="solid"/>
                      <a:round/>
                      <a:headEnd len="sm" w="sm" type="none"/>
                      <a:tailEnd len="sm" w="sm" type="none"/>
                    </a:lnT>
                    <a:lnB cap="flat" cmpd="sng" w="38100">
                      <a:solidFill>
                        <a:srgbClr val="F7F6F2"/>
                      </a:solidFill>
                      <a:prstDash val="solid"/>
                      <a:round/>
                      <a:headEnd len="sm" w="sm" type="none"/>
                      <a:tailEnd len="sm" w="sm" type="none"/>
                    </a:lnB>
                    <a:solidFill>
                      <a:srgbClr val="F7F6F2"/>
                    </a:solidFill>
                  </a:tcPr>
                </a:tc>
              </a:tr>
            </a:tbl>
          </a:graphicData>
        </a:graphic>
      </p:graphicFrame>
      <p:sp>
        <p:nvSpPr>
          <p:cNvPr id="77" name="Google Shape;77;p11"/>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350"/>
              <a:buFont typeface="Arial"/>
              <a:buNone/>
            </a:pPr>
            <a:r>
              <a:rPr b="0" i="0" lang="en-US" sz="1350" u="none" cap="none" strike="noStrike">
                <a:solidFill>
                  <a:srgbClr val="627571"/>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5"/>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3450"/>
              <a:buFont typeface="Arial"/>
              <a:buNone/>
            </a:pPr>
            <a:r>
              <a:rPr b="1" i="0" lang="en-US" sz="3450" u="none" cap="none" strike="noStrike">
                <a:solidFill>
                  <a:srgbClr val="173C39"/>
                </a:solidFill>
                <a:latin typeface="Arial"/>
                <a:ea typeface="Arial"/>
                <a:cs typeface="Arial"/>
                <a:sym typeface="Arial"/>
              </a:rPr>
              <a:t>Analysis: linking episodes to design guidance</a:t>
            </a:r>
            <a:endParaRPr b="0" i="0" sz="1400" u="none" cap="none" strike="noStrike">
              <a:solidFill>
                <a:srgbClr val="000000"/>
              </a:solidFill>
              <a:latin typeface="Arial"/>
              <a:ea typeface="Arial"/>
              <a:cs typeface="Arial"/>
              <a:sym typeface="Arial"/>
            </a:endParaRPr>
          </a:p>
        </p:txBody>
      </p:sp>
      <p:sp>
        <p:nvSpPr>
          <p:cNvPr id="84" name="Google Shape;84;p5"/>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85" name="Google Shape;85;p5"/>
          <p:cNvSpPr/>
          <p:nvPr/>
        </p:nvSpPr>
        <p:spPr>
          <a:xfrm>
            <a:off x="685800" y="1685925"/>
            <a:ext cx="4391025"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Evidence chain</a:t>
            </a:r>
            <a:endParaRPr b="0" i="0" sz="1400" u="none" cap="none" strike="noStrike">
              <a:solidFill>
                <a:srgbClr val="000000"/>
              </a:solidFill>
              <a:latin typeface="Arial"/>
              <a:ea typeface="Arial"/>
              <a:cs typeface="Arial"/>
              <a:sym typeface="Arial"/>
            </a:endParaRPr>
          </a:p>
        </p:txBody>
      </p:sp>
      <p:sp>
        <p:nvSpPr>
          <p:cNvPr id="86" name="Google Shape;86;p5"/>
          <p:cNvSpPr/>
          <p:nvPr/>
        </p:nvSpPr>
        <p:spPr>
          <a:xfrm>
            <a:off x="685800" y="2171700"/>
            <a:ext cx="4911600" cy="2305200"/>
          </a:xfrm>
          <a:prstGeom prst="rect">
            <a:avLst/>
          </a:prstGeom>
          <a:noFill/>
          <a:ln>
            <a:noFill/>
          </a:ln>
        </p:spPr>
        <p:txBody>
          <a:bodyPr anchorCtr="0" anchor="t" bIns="0" lIns="0" spcFirstLastPara="1" rIns="0" wrap="square" tIns="0">
            <a:noAutofit/>
          </a:bodyPr>
          <a:lstStyle/>
          <a:p>
            <a:pPr indent="-385763" lvl="0" marL="457200" marR="0" rtl="0" algn="l">
              <a:lnSpc>
                <a:spcPct val="115000"/>
              </a:lnSpc>
              <a:spcBef>
                <a:spcPts val="0"/>
              </a:spcBef>
              <a:spcAft>
                <a:spcPts val="0"/>
              </a:spcAft>
              <a:buClr>
                <a:srgbClr val="334A48"/>
              </a:buClr>
              <a:buSzPts val="2475"/>
              <a:buFont typeface="Arial"/>
              <a:buChar char="●"/>
            </a:pPr>
            <a:r>
              <a:rPr b="0" i="0" lang="en-US" sz="2475" u="none" cap="none" strike="noStrike">
                <a:solidFill>
                  <a:srgbClr val="334A48"/>
                </a:solidFill>
                <a:latin typeface="Arial"/>
                <a:ea typeface="Arial"/>
                <a:cs typeface="Arial"/>
                <a:sym typeface="Arial"/>
              </a:rPr>
              <a:t>Observed episode</a:t>
            </a:r>
            <a:endParaRPr b="0" i="0" sz="1400" u="none" cap="none" strike="noStrike">
              <a:solidFill>
                <a:srgbClr val="000000"/>
              </a:solidFill>
              <a:latin typeface="Arial"/>
              <a:ea typeface="Arial"/>
              <a:cs typeface="Arial"/>
              <a:sym typeface="Arial"/>
            </a:endParaRPr>
          </a:p>
          <a:p>
            <a:pPr indent="-385763" lvl="0" marL="457200" marR="0" rtl="0" algn="l">
              <a:lnSpc>
                <a:spcPct val="115000"/>
              </a:lnSpc>
              <a:spcBef>
                <a:spcPts val="0"/>
              </a:spcBef>
              <a:spcAft>
                <a:spcPts val="0"/>
              </a:spcAft>
              <a:buClr>
                <a:srgbClr val="334A48"/>
              </a:buClr>
              <a:buSzPts val="2475"/>
              <a:buFont typeface="Arial"/>
              <a:buChar char="●"/>
            </a:pPr>
            <a:r>
              <a:rPr b="0" i="0" lang="en-US" sz="2475" u="none" cap="none" strike="noStrike">
                <a:solidFill>
                  <a:srgbClr val="334A48"/>
                </a:solidFill>
                <a:latin typeface="Arial"/>
                <a:ea typeface="Arial"/>
                <a:cs typeface="Arial"/>
                <a:sym typeface="Arial"/>
              </a:rPr>
              <a:t>Participant explanation</a:t>
            </a:r>
            <a:endParaRPr b="0" i="0" sz="1400" u="none" cap="none" strike="noStrike">
              <a:solidFill>
                <a:srgbClr val="000000"/>
              </a:solidFill>
              <a:latin typeface="Arial"/>
              <a:ea typeface="Arial"/>
              <a:cs typeface="Arial"/>
              <a:sym typeface="Arial"/>
            </a:endParaRPr>
          </a:p>
          <a:p>
            <a:pPr indent="-385763" lvl="0" marL="457200" marR="0" rtl="0" algn="l">
              <a:lnSpc>
                <a:spcPct val="115000"/>
              </a:lnSpc>
              <a:spcBef>
                <a:spcPts val="0"/>
              </a:spcBef>
              <a:spcAft>
                <a:spcPts val="0"/>
              </a:spcAft>
              <a:buClr>
                <a:srgbClr val="334A48"/>
              </a:buClr>
              <a:buSzPts val="2475"/>
              <a:buFont typeface="Arial"/>
              <a:buChar char="●"/>
            </a:pPr>
            <a:r>
              <a:rPr b="0" i="0" lang="en-US" sz="2475" u="none" cap="none" strike="noStrike">
                <a:solidFill>
                  <a:srgbClr val="334A48"/>
                </a:solidFill>
                <a:latin typeface="Arial"/>
                <a:ea typeface="Arial"/>
                <a:cs typeface="Arial"/>
                <a:sym typeface="Arial"/>
              </a:rPr>
              <a:t>Contextual interpretation</a:t>
            </a:r>
            <a:endParaRPr b="0" i="0" sz="1400" u="none" cap="none" strike="noStrike">
              <a:solidFill>
                <a:srgbClr val="000000"/>
              </a:solidFill>
              <a:latin typeface="Arial"/>
              <a:ea typeface="Arial"/>
              <a:cs typeface="Arial"/>
              <a:sym typeface="Arial"/>
            </a:endParaRPr>
          </a:p>
          <a:p>
            <a:pPr indent="-385763" lvl="0" marL="457200" marR="0" rtl="0" algn="l">
              <a:lnSpc>
                <a:spcPct val="115000"/>
              </a:lnSpc>
              <a:spcBef>
                <a:spcPts val="0"/>
              </a:spcBef>
              <a:spcAft>
                <a:spcPts val="0"/>
              </a:spcAft>
              <a:buClr>
                <a:srgbClr val="334A48"/>
              </a:buClr>
              <a:buSzPts val="2475"/>
              <a:buFont typeface="Arial"/>
              <a:buChar char="●"/>
            </a:pPr>
            <a:r>
              <a:rPr b="0" i="0" lang="en-US" sz="2475" u="none" cap="none" strike="noStrike">
                <a:solidFill>
                  <a:srgbClr val="334A48"/>
                </a:solidFill>
                <a:latin typeface="Arial"/>
                <a:ea typeface="Arial"/>
                <a:cs typeface="Arial"/>
                <a:sym typeface="Arial"/>
              </a:rPr>
              <a:t>Proposed information support</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5857875" y="1685925"/>
            <a:ext cx="56197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Cross-case comparison</a:t>
            </a:r>
            <a:endParaRPr b="0" i="0" sz="1400" u="none" cap="none" strike="noStrike">
              <a:solidFill>
                <a:srgbClr val="000000"/>
              </a:solidFill>
              <a:latin typeface="Arial"/>
              <a:ea typeface="Arial"/>
              <a:cs typeface="Arial"/>
              <a:sym typeface="Arial"/>
            </a:endParaRPr>
          </a:p>
        </p:txBody>
      </p:sp>
      <p:sp>
        <p:nvSpPr>
          <p:cNvPr id="88" name="Google Shape;88;p5"/>
          <p:cNvSpPr/>
          <p:nvPr/>
        </p:nvSpPr>
        <p:spPr>
          <a:xfrm>
            <a:off x="5857875" y="2171700"/>
            <a:ext cx="5619750" cy="1485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Compare information sought, context, action, reported experience and outcome. Two researchers first interpret two cases independently.</a:t>
            </a:r>
            <a:endParaRPr b="0" i="0" sz="1400" u="none" cap="none" strike="noStrike">
              <a:solidFill>
                <a:srgbClr val="000000"/>
              </a:solidFill>
              <a:latin typeface="Arial"/>
              <a:ea typeface="Arial"/>
              <a:cs typeface="Arial"/>
              <a:sym typeface="Arial"/>
            </a:endParaRPr>
          </a:p>
        </p:txBody>
      </p:sp>
      <p:sp>
        <p:nvSpPr>
          <p:cNvPr id="89" name="Google Shape;89;p5"/>
          <p:cNvSpPr/>
          <p:nvPr/>
        </p:nvSpPr>
        <p:spPr>
          <a:xfrm>
            <a:off x="5857875" y="3971925"/>
            <a:ext cx="56197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Provisional information roles</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a:off x="5857875" y="4457700"/>
            <a:ext cx="5619750" cy="1066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Orientation, guidance, confirmation and recovery. Refine these categories with contrasting cases.</a:t>
            </a:r>
            <a:endParaRPr b="0" i="0" sz="1400" u="none" cap="none" strike="noStrike">
              <a:solidFill>
                <a:srgbClr val="000000"/>
              </a:solidFill>
              <a:latin typeface="Arial"/>
              <a:ea typeface="Arial"/>
              <a:cs typeface="Arial"/>
              <a:sym typeface="Arial"/>
            </a:endParaRPr>
          </a:p>
        </p:txBody>
      </p:sp>
      <p:sp>
        <p:nvSpPr>
          <p:cNvPr id="91" name="Google Shape;91;p5"/>
          <p:cNvSpPr/>
          <p:nvPr/>
        </p:nvSpPr>
        <p:spPr>
          <a:xfrm>
            <a:off x="685800" y="5657850"/>
            <a:ext cx="8513400" cy="619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1875"/>
              <a:buFont typeface="Arial"/>
              <a:buNone/>
            </a:pPr>
            <a:r>
              <a:rPr b="1" i="0" lang="en-US" sz="1800" u="none" cap="none" strike="noStrike">
                <a:solidFill>
                  <a:srgbClr val="A75B35"/>
                </a:solidFill>
                <a:latin typeface="Arial"/>
                <a:ea typeface="Arial"/>
                <a:cs typeface="Arial"/>
                <a:sym typeface="Arial"/>
              </a:rPr>
              <a:t>A pause or repeated phone check alone does not establish overwhelm. </a:t>
            </a:r>
            <a:endParaRPr b="1" i="0" sz="1800" u="none" cap="none" strike="noStrike">
              <a:solidFill>
                <a:srgbClr val="A75B35"/>
              </a:solidFill>
              <a:latin typeface="Arial"/>
              <a:ea typeface="Arial"/>
              <a:cs typeface="Arial"/>
              <a:sym typeface="Arial"/>
            </a:endParaRPr>
          </a:p>
          <a:p>
            <a:pPr indent="0" lvl="0" marL="0" marR="0" rtl="0" algn="l">
              <a:lnSpc>
                <a:spcPct val="115000"/>
              </a:lnSpc>
              <a:spcBef>
                <a:spcPts val="0"/>
              </a:spcBef>
              <a:spcAft>
                <a:spcPts val="0"/>
              </a:spcAft>
              <a:buClr>
                <a:srgbClr val="A75B35"/>
              </a:buClr>
              <a:buSzPts val="1875"/>
              <a:buFont typeface="Arial"/>
              <a:buNone/>
            </a:pPr>
            <a:r>
              <a:rPr b="1" i="0" lang="en-US" sz="1800" u="none" cap="none" strike="noStrike">
                <a:solidFill>
                  <a:srgbClr val="A75B35"/>
                </a:solidFill>
                <a:latin typeface="Arial"/>
                <a:ea typeface="Arial"/>
                <a:cs typeface="Arial"/>
                <a:sym typeface="Arial"/>
              </a:rPr>
              <a:t>The participant’s account matters.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96" name="Shape 96"/>
        <p:cNvGrpSpPr/>
        <p:nvPr/>
      </p:nvGrpSpPr>
      <p:grpSpPr>
        <a:xfrm>
          <a:off x="0" y="0"/>
          <a:ext cx="0" cy="0"/>
          <a:chOff x="0" y="0"/>
          <a:chExt cx="0" cy="0"/>
        </a:xfrm>
      </p:grpSpPr>
      <p:sp>
        <p:nvSpPr>
          <p:cNvPr id="97" name="Google Shape;97;p6"/>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3450"/>
              <a:buFont typeface="Arial"/>
              <a:buNone/>
            </a:pPr>
            <a:r>
              <a:rPr b="1" i="0" lang="en-US" sz="3450" u="none" cap="none" strike="noStrike">
                <a:solidFill>
                  <a:srgbClr val="173C39"/>
                </a:solidFill>
                <a:latin typeface="Arial"/>
                <a:ea typeface="Arial"/>
                <a:cs typeface="Arial"/>
                <a:sym typeface="Arial"/>
              </a:rPr>
              <a:t>Ethics, safety and confidentiality</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07</a:t>
            </a:r>
            <a:endParaRPr b="0" i="0" sz="1400" u="none" cap="none" strike="noStrike">
              <a:solidFill>
                <a:srgbClr val="000000"/>
              </a:solidFill>
              <a:latin typeface="Arial"/>
              <a:ea typeface="Arial"/>
              <a:cs typeface="Arial"/>
              <a:sym typeface="Arial"/>
            </a:endParaRPr>
          </a:p>
        </p:txBody>
      </p:sp>
      <p:sp>
        <p:nvSpPr>
          <p:cNvPr id="99" name="Google Shape;99;p6"/>
          <p:cNvSpPr/>
          <p:nvPr/>
        </p:nvSpPr>
        <p:spPr>
          <a:xfrm>
            <a:off x="685800" y="1666875"/>
            <a:ext cx="495300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Clearance before fieldwork</a:t>
            </a:r>
            <a:endParaRPr b="0" i="0" sz="1400" u="none" cap="none" strike="noStrike">
              <a:solidFill>
                <a:srgbClr val="000000"/>
              </a:solidFill>
              <a:latin typeface="Arial"/>
              <a:ea typeface="Arial"/>
              <a:cs typeface="Arial"/>
              <a:sym typeface="Arial"/>
            </a:endParaRPr>
          </a:p>
        </p:txBody>
      </p:sp>
      <p:sp>
        <p:nvSpPr>
          <p:cNvPr id="100" name="Google Shape;100;p6"/>
          <p:cNvSpPr/>
          <p:nvPr/>
        </p:nvSpPr>
        <p:spPr>
          <a:xfrm>
            <a:off x="685800" y="2152650"/>
            <a:ext cx="4953000" cy="12382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Obtain ethics approval before the pilot or any participant session. Confirm storage, retention and contacts before recruitment.</a:t>
            </a:r>
            <a:endParaRPr b="0" i="0" sz="1400" u="none" cap="none" strike="noStrike">
              <a:solidFill>
                <a:srgbClr val="000000"/>
              </a:solidFill>
              <a:latin typeface="Arial"/>
              <a:ea typeface="Arial"/>
              <a:cs typeface="Arial"/>
              <a:sym typeface="Arial"/>
            </a:endParaRPr>
          </a:p>
        </p:txBody>
      </p:sp>
      <p:sp>
        <p:nvSpPr>
          <p:cNvPr id="101" name="Google Shape;101;p6"/>
          <p:cNvSpPr/>
          <p:nvPr/>
        </p:nvSpPr>
        <p:spPr>
          <a:xfrm>
            <a:off x="6505575" y="1666875"/>
            <a:ext cx="49720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Choice and withdrawal</a:t>
            </a:r>
            <a:endParaRPr b="0" i="0" sz="1400" u="none" cap="none" strike="noStrike">
              <a:solidFill>
                <a:srgbClr val="000000"/>
              </a:solidFill>
              <a:latin typeface="Arial"/>
              <a:ea typeface="Arial"/>
              <a:cs typeface="Arial"/>
              <a:sym typeface="Arial"/>
            </a:endParaRPr>
          </a:p>
        </p:txBody>
      </p:sp>
      <p:sp>
        <p:nvSpPr>
          <p:cNvPr id="102" name="Google Shape;102;p6"/>
          <p:cNvSpPr/>
          <p:nvPr/>
        </p:nvSpPr>
        <p:spPr>
          <a:xfrm>
            <a:off x="6505575" y="2152650"/>
            <a:ext cx="4972050" cy="12382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Use separate recording permissions. Participants may decline recordings, pause or stop. Propose a 7-day data-removal window.</a:t>
            </a:r>
            <a:endParaRPr b="0" i="0" sz="1400" u="none" cap="none" strike="noStrike">
              <a:solidFill>
                <a:srgbClr val="000000"/>
              </a:solidFill>
              <a:latin typeface="Arial"/>
              <a:ea typeface="Arial"/>
              <a:cs typeface="Arial"/>
              <a:sym typeface="Arial"/>
            </a:endParaRPr>
          </a:p>
        </p:txBody>
      </p:sp>
      <p:sp>
        <p:nvSpPr>
          <p:cNvPr id="103" name="Google Shape;103;p6"/>
          <p:cNvSpPr/>
          <p:nvPr/>
        </p:nvSpPr>
        <p:spPr>
          <a:xfrm>
            <a:off x="685800" y="4048125"/>
            <a:ext cx="495300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Walking safety</a:t>
            </a:r>
            <a:endParaRPr b="0" i="0" sz="1400" u="none" cap="none" strike="noStrike">
              <a:solidFill>
                <a:srgbClr val="000000"/>
              </a:solidFill>
              <a:latin typeface="Arial"/>
              <a:ea typeface="Arial"/>
              <a:cs typeface="Arial"/>
              <a:sym typeface="Arial"/>
            </a:endParaRPr>
          </a:p>
        </p:txBody>
      </p:sp>
      <p:sp>
        <p:nvSpPr>
          <p:cNvPr id="104" name="Google Shape;104;p6"/>
          <p:cNvSpPr/>
          <p:nvPr/>
        </p:nvSpPr>
        <p:spPr>
          <a:xfrm>
            <a:off x="685800" y="4533900"/>
            <a:ext cx="4953000" cy="12382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No research conversation at road crossings. Pause or reschedule for unsafe weather, crowding or discomfort.</a:t>
            </a:r>
            <a:endParaRPr b="0" i="0" sz="1400" u="none" cap="none" strike="noStrike">
              <a:solidFill>
                <a:srgbClr val="000000"/>
              </a:solidFill>
              <a:latin typeface="Arial"/>
              <a:ea typeface="Arial"/>
              <a:cs typeface="Arial"/>
              <a:sym typeface="Arial"/>
            </a:endParaRPr>
          </a:p>
        </p:txBody>
      </p:sp>
      <p:sp>
        <p:nvSpPr>
          <p:cNvPr id="105" name="Google Shape;105;p6"/>
          <p:cNvSpPr/>
          <p:nvPr/>
        </p:nvSpPr>
        <p:spPr>
          <a:xfrm>
            <a:off x="6505575" y="4048125"/>
            <a:ext cx="49720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Protect participant data</a:t>
            </a:r>
            <a:endParaRPr b="0" i="0" sz="1400" u="none" cap="none" strike="noStrike">
              <a:solidFill>
                <a:srgbClr val="000000"/>
              </a:solidFill>
              <a:latin typeface="Arial"/>
              <a:ea typeface="Arial"/>
              <a:cs typeface="Arial"/>
              <a:sym typeface="Arial"/>
            </a:endParaRPr>
          </a:p>
        </p:txBody>
      </p:sp>
      <p:sp>
        <p:nvSpPr>
          <p:cNvPr id="106" name="Google Shape;106;p6"/>
          <p:cNvSpPr/>
          <p:nvPr/>
        </p:nvSpPr>
        <p:spPr>
          <a:xfrm>
            <a:off x="6505575" y="4533900"/>
            <a:ext cx="4972050" cy="13811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00"/>
              <a:buFont typeface="Arial"/>
              <a:buNone/>
            </a:pPr>
            <a:r>
              <a:rPr b="0" i="0" lang="en-US" sz="2100" u="none" cap="none" strike="noStrike">
                <a:solidFill>
                  <a:srgbClr val="334A48"/>
                </a:solidFill>
                <a:latin typeface="Arial"/>
                <a:ea typeface="Arial"/>
                <a:cs typeface="Arial"/>
                <a:sym typeface="Arial"/>
              </a:rPr>
              <a:t>Use participant codes and restricted institutional storage. Redact retained extracts and keep raw media out of public AI services.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7"/>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3450"/>
              <a:buFont typeface="Arial"/>
              <a:buNone/>
            </a:pPr>
            <a:r>
              <a:rPr b="1" i="0" lang="en-US" sz="3450" u="none" cap="none" strike="noStrike">
                <a:solidFill>
                  <a:srgbClr val="173C39"/>
                </a:solidFill>
                <a:latin typeface="Arial"/>
                <a:ea typeface="Arial"/>
                <a:cs typeface="Arial"/>
                <a:sym typeface="Arial"/>
              </a:rPr>
              <a:t>Schedule and team capacity</a:t>
            </a:r>
            <a:endParaRPr b="0" i="0" sz="1400" u="none" cap="none" strike="noStrike">
              <a:solidFill>
                <a:srgbClr val="000000"/>
              </a:solidFill>
              <a:latin typeface="Arial"/>
              <a:ea typeface="Arial"/>
              <a:cs typeface="Arial"/>
              <a:sym typeface="Arial"/>
            </a:endParaRPr>
          </a:p>
        </p:txBody>
      </p:sp>
      <p:sp>
        <p:nvSpPr>
          <p:cNvPr id="113" name="Google Shape;113;p7"/>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08</a:t>
            </a:r>
            <a:endParaRPr b="0" i="0" sz="1400" u="none" cap="none" strike="noStrike">
              <a:solidFill>
                <a:srgbClr val="000000"/>
              </a:solidFill>
              <a:latin typeface="Arial"/>
              <a:ea typeface="Arial"/>
              <a:cs typeface="Arial"/>
              <a:sym typeface="Arial"/>
            </a:endParaRPr>
          </a:p>
        </p:txBody>
      </p:sp>
      <p:sp>
        <p:nvSpPr>
          <p:cNvPr id="114" name="Google Shape;114;p7"/>
          <p:cNvSpPr/>
          <p:nvPr/>
        </p:nvSpPr>
        <p:spPr>
          <a:xfrm>
            <a:off x="685800" y="1657350"/>
            <a:ext cx="152400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2175"/>
              <a:buFont typeface="Arial"/>
              <a:buNone/>
            </a:pPr>
            <a:r>
              <a:rPr b="1" i="0" lang="en-US" sz="2175" u="none" cap="none" strike="noStrike">
                <a:solidFill>
                  <a:srgbClr val="A75B35"/>
                </a:solidFill>
                <a:latin typeface="Arial"/>
                <a:ea typeface="Arial"/>
                <a:cs typeface="Arial"/>
                <a:sym typeface="Arial"/>
              </a:rPr>
              <a:t>24 Sep</a:t>
            </a:r>
            <a:endParaRPr b="0" i="0" sz="1400" u="none" cap="none" strike="noStrike">
              <a:solidFill>
                <a:srgbClr val="000000"/>
              </a:solidFill>
              <a:latin typeface="Arial"/>
              <a:ea typeface="Arial"/>
              <a:cs typeface="Arial"/>
              <a:sym typeface="Arial"/>
            </a:endParaRPr>
          </a:p>
        </p:txBody>
      </p:sp>
      <p:sp>
        <p:nvSpPr>
          <p:cNvPr id="115" name="Google Shape;115;p7"/>
          <p:cNvSpPr/>
          <p:nvPr/>
        </p:nvSpPr>
        <p:spPr>
          <a:xfrm>
            <a:off x="2543175" y="1657350"/>
            <a:ext cx="897255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P1: proposal and ethics materials</a:t>
            </a:r>
            <a:endParaRPr b="0" i="0" sz="1400" u="none" cap="none" strike="noStrike">
              <a:solidFill>
                <a:srgbClr val="000000"/>
              </a:solidFill>
              <a:latin typeface="Arial"/>
              <a:ea typeface="Arial"/>
              <a:cs typeface="Arial"/>
              <a:sym typeface="Arial"/>
            </a:endParaRPr>
          </a:p>
        </p:txBody>
      </p:sp>
      <p:sp>
        <p:nvSpPr>
          <p:cNvPr id="116" name="Google Shape;116;p7"/>
          <p:cNvSpPr/>
          <p:nvPr/>
        </p:nvSpPr>
        <p:spPr>
          <a:xfrm>
            <a:off x="685800" y="2314575"/>
            <a:ext cx="152400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2175"/>
              <a:buFont typeface="Arial"/>
              <a:buNone/>
            </a:pPr>
            <a:r>
              <a:rPr b="1" i="0" lang="en-US" sz="2175" u="none" cap="none" strike="noStrike">
                <a:solidFill>
                  <a:srgbClr val="A75B35"/>
                </a:solidFill>
                <a:latin typeface="Arial"/>
                <a:ea typeface="Arial"/>
                <a:cs typeface="Arial"/>
                <a:sym typeface="Arial"/>
              </a:rPr>
              <a:t>8 Oct</a:t>
            </a:r>
            <a:endParaRPr b="0" i="0" sz="1400" u="none" cap="none" strike="noStrike">
              <a:solidFill>
                <a:srgbClr val="000000"/>
              </a:solidFill>
              <a:latin typeface="Arial"/>
              <a:ea typeface="Arial"/>
              <a:cs typeface="Arial"/>
              <a:sym typeface="Arial"/>
            </a:endParaRPr>
          </a:p>
        </p:txBody>
      </p:sp>
      <p:sp>
        <p:nvSpPr>
          <p:cNvPr id="117" name="Google Shape;117;p7"/>
          <p:cNvSpPr/>
          <p:nvPr/>
        </p:nvSpPr>
        <p:spPr>
          <a:xfrm>
            <a:off x="2543175" y="2314575"/>
            <a:ext cx="897255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P2: workflow, pilot and early sessions*</a:t>
            </a:r>
            <a:endParaRPr b="0" i="0" sz="1400" u="none" cap="none" strike="noStrike">
              <a:solidFill>
                <a:srgbClr val="000000"/>
              </a:solidFill>
              <a:latin typeface="Arial"/>
              <a:ea typeface="Arial"/>
              <a:cs typeface="Arial"/>
              <a:sym typeface="Arial"/>
            </a:endParaRPr>
          </a:p>
        </p:txBody>
      </p:sp>
      <p:sp>
        <p:nvSpPr>
          <p:cNvPr id="118" name="Google Shape;118;p7"/>
          <p:cNvSpPr/>
          <p:nvPr/>
        </p:nvSpPr>
        <p:spPr>
          <a:xfrm>
            <a:off x="685800" y="2971800"/>
            <a:ext cx="152400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2175"/>
              <a:buFont typeface="Arial"/>
              <a:buNone/>
            </a:pPr>
            <a:r>
              <a:rPr b="1" i="0" lang="en-US" sz="2175" u="none" cap="none" strike="noStrike">
                <a:solidFill>
                  <a:srgbClr val="A75B35"/>
                </a:solidFill>
                <a:latin typeface="Arial"/>
                <a:ea typeface="Arial"/>
                <a:cs typeface="Arial"/>
                <a:sym typeface="Arial"/>
              </a:rPr>
              <a:t>29 Oct</a:t>
            </a:r>
            <a:endParaRPr b="0" i="0" sz="1400" u="none" cap="none" strike="noStrike">
              <a:solidFill>
                <a:srgbClr val="000000"/>
              </a:solidFill>
              <a:latin typeface="Arial"/>
              <a:ea typeface="Arial"/>
              <a:cs typeface="Arial"/>
              <a:sym typeface="Arial"/>
            </a:endParaRPr>
          </a:p>
        </p:txBody>
      </p:sp>
      <p:sp>
        <p:nvSpPr>
          <p:cNvPr id="119" name="Google Shape;119;p7"/>
          <p:cNvSpPr/>
          <p:nvPr/>
        </p:nvSpPr>
        <p:spPr>
          <a:xfrm>
            <a:off x="2543175" y="2971800"/>
            <a:ext cx="897255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P3: data inventory and coding</a:t>
            </a:r>
            <a:endParaRPr b="0" i="0" sz="1400" u="none" cap="none" strike="noStrike">
              <a:solidFill>
                <a:srgbClr val="000000"/>
              </a:solidFill>
              <a:latin typeface="Arial"/>
              <a:ea typeface="Arial"/>
              <a:cs typeface="Arial"/>
              <a:sym typeface="Arial"/>
            </a:endParaRPr>
          </a:p>
        </p:txBody>
      </p:sp>
      <p:sp>
        <p:nvSpPr>
          <p:cNvPr id="120" name="Google Shape;120;p7"/>
          <p:cNvSpPr/>
          <p:nvPr/>
        </p:nvSpPr>
        <p:spPr>
          <a:xfrm>
            <a:off x="685800" y="3629025"/>
            <a:ext cx="152400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2175"/>
              <a:buFont typeface="Arial"/>
              <a:buNone/>
            </a:pPr>
            <a:r>
              <a:rPr b="1" i="0" lang="en-US" sz="2175" u="none" cap="none" strike="noStrike">
                <a:solidFill>
                  <a:srgbClr val="A75B35"/>
                </a:solidFill>
                <a:latin typeface="Arial"/>
                <a:ea typeface="Arial"/>
                <a:cs typeface="Arial"/>
                <a:sym typeface="Arial"/>
              </a:rPr>
              <a:t>12 Nov</a:t>
            </a:r>
            <a:endParaRPr b="0" i="0" sz="1400" u="none" cap="none" strike="noStrike">
              <a:solidFill>
                <a:srgbClr val="000000"/>
              </a:solidFill>
              <a:latin typeface="Arial"/>
              <a:ea typeface="Arial"/>
              <a:cs typeface="Arial"/>
              <a:sym typeface="Arial"/>
            </a:endParaRPr>
          </a:p>
        </p:txBody>
      </p:sp>
      <p:sp>
        <p:nvSpPr>
          <p:cNvPr id="121" name="Google Shape;121;p7"/>
          <p:cNvSpPr/>
          <p:nvPr/>
        </p:nvSpPr>
        <p:spPr>
          <a:xfrm>
            <a:off x="2543175" y="3629025"/>
            <a:ext cx="897255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P4: cross-case synthesis and counterexamples</a:t>
            </a:r>
            <a:endParaRPr b="0" i="0" sz="1400" u="none" cap="none" strike="noStrike">
              <a:solidFill>
                <a:srgbClr val="000000"/>
              </a:solidFill>
              <a:latin typeface="Arial"/>
              <a:ea typeface="Arial"/>
              <a:cs typeface="Arial"/>
              <a:sym typeface="Arial"/>
            </a:endParaRPr>
          </a:p>
        </p:txBody>
      </p:sp>
      <p:sp>
        <p:nvSpPr>
          <p:cNvPr id="122" name="Google Shape;122;p7"/>
          <p:cNvSpPr/>
          <p:nvPr/>
        </p:nvSpPr>
        <p:spPr>
          <a:xfrm>
            <a:off x="685800" y="4286250"/>
            <a:ext cx="152400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2175"/>
              <a:buFont typeface="Arial"/>
              <a:buNone/>
            </a:pPr>
            <a:r>
              <a:rPr b="1" i="0" lang="en-US" sz="2175" u="none" cap="none" strike="noStrike">
                <a:solidFill>
                  <a:srgbClr val="A75B35"/>
                </a:solidFill>
                <a:latin typeface="Arial"/>
                <a:ea typeface="Arial"/>
                <a:cs typeface="Arial"/>
                <a:sym typeface="Arial"/>
              </a:rPr>
              <a:t>26 Nov</a:t>
            </a:r>
            <a:endParaRPr b="0" i="0" sz="1400" u="none" cap="none" strike="noStrike">
              <a:solidFill>
                <a:srgbClr val="000000"/>
              </a:solidFill>
              <a:latin typeface="Arial"/>
              <a:ea typeface="Arial"/>
              <a:cs typeface="Arial"/>
              <a:sym typeface="Arial"/>
            </a:endParaRPr>
          </a:p>
        </p:txBody>
      </p:sp>
      <p:sp>
        <p:nvSpPr>
          <p:cNvPr id="123" name="Google Shape;123;p7"/>
          <p:cNvSpPr/>
          <p:nvPr/>
        </p:nvSpPr>
        <p:spPr>
          <a:xfrm>
            <a:off x="2543175" y="4286250"/>
            <a:ext cx="897255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P5: design propositions and report draft</a:t>
            </a:r>
            <a:endParaRPr b="0" i="0" sz="1400" u="none" cap="none" strike="noStrike">
              <a:solidFill>
                <a:srgbClr val="000000"/>
              </a:solidFill>
              <a:latin typeface="Arial"/>
              <a:ea typeface="Arial"/>
              <a:cs typeface="Arial"/>
              <a:sym typeface="Arial"/>
            </a:endParaRPr>
          </a:p>
        </p:txBody>
      </p:sp>
      <p:sp>
        <p:nvSpPr>
          <p:cNvPr id="124" name="Google Shape;124;p7"/>
          <p:cNvSpPr/>
          <p:nvPr/>
        </p:nvSpPr>
        <p:spPr>
          <a:xfrm>
            <a:off x="685800" y="4943475"/>
            <a:ext cx="152400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2175"/>
              <a:buFont typeface="Arial"/>
              <a:buNone/>
            </a:pPr>
            <a:r>
              <a:rPr b="1" i="0" lang="en-US" sz="2175" u="none" cap="none" strike="noStrike">
                <a:solidFill>
                  <a:srgbClr val="A75B35"/>
                </a:solidFill>
                <a:latin typeface="Arial"/>
                <a:ea typeface="Arial"/>
                <a:cs typeface="Arial"/>
                <a:sym typeface="Arial"/>
              </a:rPr>
              <a:t>6 Dec</a:t>
            </a:r>
            <a:endParaRPr b="0" i="0" sz="1400" u="none" cap="none" strike="noStrike">
              <a:solidFill>
                <a:srgbClr val="000000"/>
              </a:solidFill>
              <a:latin typeface="Arial"/>
              <a:ea typeface="Arial"/>
              <a:cs typeface="Arial"/>
              <a:sym typeface="Arial"/>
            </a:endParaRPr>
          </a:p>
        </p:txBody>
      </p:sp>
      <p:sp>
        <p:nvSpPr>
          <p:cNvPr id="125" name="Google Shape;125;p7"/>
          <p:cNvSpPr/>
          <p:nvPr/>
        </p:nvSpPr>
        <p:spPr>
          <a:xfrm>
            <a:off x="2543175" y="4943475"/>
            <a:ext cx="8972550" cy="4667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175"/>
              <a:buFont typeface="Arial"/>
              <a:buNone/>
            </a:pPr>
            <a:r>
              <a:rPr b="0" i="0" lang="en-US" sz="2175" u="none" cap="none" strike="noStrike">
                <a:solidFill>
                  <a:srgbClr val="334A48"/>
                </a:solidFill>
                <a:latin typeface="Arial"/>
                <a:ea typeface="Arial"/>
                <a:cs typeface="Arial"/>
                <a:sym typeface="Arial"/>
              </a:rPr>
              <a:t>Final report submission</a:t>
            </a:r>
            <a:endParaRPr b="0" i="0" sz="1400" u="none" cap="none" strike="noStrike">
              <a:solidFill>
                <a:srgbClr val="000000"/>
              </a:solidFill>
              <a:latin typeface="Arial"/>
              <a:ea typeface="Arial"/>
              <a:cs typeface="Arial"/>
              <a:sym typeface="Arial"/>
            </a:endParaRPr>
          </a:p>
        </p:txBody>
      </p:sp>
      <p:sp>
        <p:nvSpPr>
          <p:cNvPr id="126" name="Google Shape;126;p7"/>
          <p:cNvSpPr/>
          <p:nvPr/>
        </p:nvSpPr>
        <p:spPr>
          <a:xfrm>
            <a:off x="685800" y="5867400"/>
            <a:ext cx="10287000" cy="6381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650"/>
              <a:buFont typeface="Arial"/>
              <a:buNone/>
            </a:pPr>
            <a:r>
              <a:rPr b="0" i="0" lang="en-US" sz="1650" u="none" cap="none" strike="noStrike">
                <a:solidFill>
                  <a:srgbClr val="627571"/>
                </a:solidFill>
                <a:latin typeface="Arial"/>
                <a:ea typeface="Arial"/>
                <a:cs typeface="Arial"/>
                <a:sym typeface="Arial"/>
              </a:rPr>
              <a:t>4 students in 2 pairs   /   132 team hours across 11 weeks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627571"/>
              </a:buClr>
              <a:buSzPts val="1650"/>
              <a:buFont typeface="Arial"/>
              <a:buNone/>
            </a:pPr>
            <a:r>
              <a:rPr b="0" i="0" lang="en-US" sz="1650" u="none" cap="none" strike="noStrike">
                <a:solidFill>
                  <a:srgbClr val="627571"/>
                </a:solidFill>
                <a:latin typeface="Arial"/>
                <a:ea typeface="Arial"/>
                <a:cs typeface="Arial"/>
                <a:sym typeface="Arial"/>
              </a:rPr>
              <a:t>*Participant activities depend on prior ethics clearance.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31" name="Shape 131"/>
        <p:cNvGrpSpPr/>
        <p:nvPr/>
      </p:nvGrpSpPr>
      <p:grpSpPr>
        <a:xfrm>
          <a:off x="0" y="0"/>
          <a:ext cx="0" cy="0"/>
          <a:chOff x="0" y="0"/>
          <a:chExt cx="0" cy="0"/>
        </a:xfrm>
      </p:grpSpPr>
      <p:sp>
        <p:nvSpPr>
          <p:cNvPr id="132" name="Google Shape;132;p8"/>
          <p:cNvSpPr/>
          <p:nvPr/>
        </p:nvSpPr>
        <p:spPr>
          <a:xfrm>
            <a:off x="685800" y="514350"/>
            <a:ext cx="10744200" cy="723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3450"/>
              <a:buFont typeface="Arial"/>
              <a:buNone/>
            </a:pPr>
            <a:r>
              <a:rPr b="1" i="0" lang="en-US" sz="3450" u="none" cap="none" strike="noStrike">
                <a:solidFill>
                  <a:srgbClr val="173C39"/>
                </a:solidFill>
                <a:latin typeface="Arial"/>
                <a:ea typeface="Arial"/>
                <a:cs typeface="Arial"/>
                <a:sym typeface="Arial"/>
              </a:rPr>
              <a:t>Expected contribution and limits</a:t>
            </a:r>
            <a:endParaRPr b="0" i="0" sz="1400" u="none" cap="none" strike="noStrike">
              <a:solidFill>
                <a:srgbClr val="000000"/>
              </a:solidFill>
              <a:latin typeface="Arial"/>
              <a:ea typeface="Arial"/>
              <a:cs typeface="Arial"/>
              <a:sym typeface="Arial"/>
            </a:endParaRPr>
          </a:p>
        </p:txBody>
      </p:sp>
      <p:sp>
        <p:nvSpPr>
          <p:cNvPr id="133" name="Google Shape;133;p8"/>
          <p:cNvSpPr/>
          <p:nvPr/>
        </p:nvSpPr>
        <p:spPr>
          <a:xfrm>
            <a:off x="11049000" y="6229350"/>
            <a:ext cx="457200" cy="266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27571"/>
              </a:buClr>
              <a:buSzPts val="1350"/>
              <a:buFont typeface="Arial"/>
              <a:buNone/>
            </a:pPr>
            <a:r>
              <a:rPr b="0" i="0" lang="en-US" sz="1350" u="none" cap="none" strike="noStrike">
                <a:solidFill>
                  <a:srgbClr val="627571"/>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134" name="Google Shape;134;p8"/>
          <p:cNvSpPr/>
          <p:nvPr/>
        </p:nvSpPr>
        <p:spPr>
          <a:xfrm>
            <a:off x="685800" y="1676400"/>
            <a:ext cx="4972050"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What the study will produce</a:t>
            </a:r>
            <a:endParaRPr b="0" i="0" sz="1400" u="none" cap="none" strike="noStrike">
              <a:solidFill>
                <a:srgbClr val="000000"/>
              </a:solidFill>
              <a:latin typeface="Arial"/>
              <a:ea typeface="Arial"/>
              <a:cs typeface="Arial"/>
              <a:sym typeface="Arial"/>
            </a:endParaRPr>
          </a:p>
        </p:txBody>
      </p:sp>
      <p:sp>
        <p:nvSpPr>
          <p:cNvPr id="135" name="Google Shape;135;p8"/>
          <p:cNvSpPr/>
          <p:nvPr/>
        </p:nvSpPr>
        <p:spPr>
          <a:xfrm>
            <a:off x="685800" y="2162175"/>
            <a:ext cx="4972050" cy="13525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250"/>
              <a:buFont typeface="Arial"/>
              <a:buNone/>
            </a:pPr>
            <a:r>
              <a:rPr b="0" i="0" lang="en-US" sz="2250" u="none" cap="none" strike="noStrike">
                <a:solidFill>
                  <a:srgbClr val="334A48"/>
                </a:solidFill>
                <a:latin typeface="Arial"/>
                <a:ea typeface="Arial"/>
                <a:cs typeface="Arial"/>
                <a:sym typeface="Arial"/>
              </a:rPr>
              <a:t>A contextual classification of navigation information, grounded in participant accounts and observed episodes.</a:t>
            </a:r>
            <a:endParaRPr b="0" i="0" sz="1400" u="none" cap="none" strike="noStrike">
              <a:solidFill>
                <a:srgbClr val="000000"/>
              </a:solidFill>
              <a:latin typeface="Arial"/>
              <a:ea typeface="Arial"/>
              <a:cs typeface="Arial"/>
              <a:sym typeface="Arial"/>
            </a:endParaRPr>
          </a:p>
        </p:txBody>
      </p:sp>
      <p:sp>
        <p:nvSpPr>
          <p:cNvPr id="136" name="Google Shape;136;p8"/>
          <p:cNvSpPr/>
          <p:nvPr/>
        </p:nvSpPr>
        <p:spPr>
          <a:xfrm>
            <a:off x="685800" y="3905250"/>
            <a:ext cx="4972050" cy="1409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250"/>
              <a:buFont typeface="Arial"/>
              <a:buNone/>
            </a:pPr>
            <a:r>
              <a:rPr b="0" i="0" lang="en-US" sz="2250" u="none" cap="none" strike="noStrike">
                <a:solidFill>
                  <a:srgbClr val="334A48"/>
                </a:solidFill>
                <a:latin typeface="Arial"/>
                <a:ea typeface="Arial"/>
                <a:cs typeface="Arial"/>
                <a:sym typeface="Arial"/>
              </a:rPr>
              <a:t>Preliminary guidance on when to present information, how much detail to show and how to deliver support.</a:t>
            </a:r>
            <a:endParaRPr b="0" i="0" sz="1400" u="none" cap="none" strike="noStrike">
              <a:solidFill>
                <a:srgbClr val="000000"/>
              </a:solidFill>
              <a:latin typeface="Arial"/>
              <a:ea typeface="Arial"/>
              <a:cs typeface="Arial"/>
              <a:sym typeface="Arial"/>
            </a:endParaRPr>
          </a:p>
        </p:txBody>
      </p:sp>
      <p:sp>
        <p:nvSpPr>
          <p:cNvPr id="137" name="Google Shape;137;p8"/>
          <p:cNvSpPr/>
          <p:nvPr/>
        </p:nvSpPr>
        <p:spPr>
          <a:xfrm>
            <a:off x="6505575" y="1676400"/>
            <a:ext cx="4962525" cy="4000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73C39"/>
              </a:buClr>
              <a:buSzPts val="2175"/>
              <a:buFont typeface="Arial"/>
              <a:buNone/>
            </a:pPr>
            <a:r>
              <a:rPr b="1" i="0" lang="en-US" sz="2175" u="none" cap="none" strike="noStrike">
                <a:solidFill>
                  <a:srgbClr val="173C39"/>
                </a:solidFill>
                <a:latin typeface="Arial"/>
                <a:ea typeface="Arial"/>
                <a:cs typeface="Arial"/>
                <a:sym typeface="Arial"/>
              </a:rPr>
              <a:t>What remains to be tested</a:t>
            </a:r>
            <a:endParaRPr b="0" i="0" sz="1400" u="none" cap="none" strike="noStrike">
              <a:solidFill>
                <a:srgbClr val="000000"/>
              </a:solidFill>
              <a:latin typeface="Arial"/>
              <a:ea typeface="Arial"/>
              <a:cs typeface="Arial"/>
              <a:sym typeface="Arial"/>
            </a:endParaRPr>
          </a:p>
        </p:txBody>
      </p:sp>
      <p:sp>
        <p:nvSpPr>
          <p:cNvPr id="138" name="Google Shape;138;p8"/>
          <p:cNvSpPr/>
          <p:nvPr/>
        </p:nvSpPr>
        <p:spPr>
          <a:xfrm>
            <a:off x="6505575" y="2162175"/>
            <a:ext cx="4962525" cy="13049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250"/>
              <a:buFont typeface="Arial"/>
              <a:buNone/>
            </a:pPr>
            <a:r>
              <a:rPr b="0" i="0" lang="en-US" sz="2250" u="none" cap="none" strike="noStrike">
                <a:solidFill>
                  <a:srgbClr val="334A48"/>
                </a:solidFill>
                <a:latin typeface="Arial"/>
                <a:ea typeface="Arial"/>
                <a:cs typeface="Arial"/>
                <a:sym typeface="Arial"/>
              </a:rPr>
              <a:t>Whether the framework is complete, usable and effective in reducing navigation burden.</a:t>
            </a:r>
            <a:endParaRPr b="0" i="0" sz="1400" u="none" cap="none" strike="noStrike">
              <a:solidFill>
                <a:srgbClr val="000000"/>
              </a:solidFill>
              <a:latin typeface="Arial"/>
              <a:ea typeface="Arial"/>
              <a:cs typeface="Arial"/>
              <a:sym typeface="Arial"/>
            </a:endParaRPr>
          </a:p>
        </p:txBody>
      </p:sp>
      <p:sp>
        <p:nvSpPr>
          <p:cNvPr id="139" name="Google Shape;139;p8"/>
          <p:cNvSpPr/>
          <p:nvPr/>
        </p:nvSpPr>
        <p:spPr>
          <a:xfrm>
            <a:off x="6505575" y="3905250"/>
            <a:ext cx="4962525" cy="1409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34A48"/>
              </a:buClr>
              <a:buSzPts val="2250"/>
              <a:buFont typeface="Arial"/>
              <a:buNone/>
            </a:pPr>
            <a:r>
              <a:rPr b="0" i="0" lang="en-US" sz="2250" u="none" cap="none" strike="noStrike">
                <a:solidFill>
                  <a:srgbClr val="334A48"/>
                </a:solidFill>
                <a:latin typeface="Arial"/>
                <a:ea typeface="Arial"/>
                <a:cs typeface="Arial"/>
                <a:sym typeface="Arial"/>
              </a:rPr>
              <a:t>A small convenience sample and one brief walk cannot prove causality or represent all Hong Kong newcomers.</a:t>
            </a:r>
            <a:endParaRPr b="0" i="0" sz="1400" u="none" cap="none" strike="noStrike">
              <a:solidFill>
                <a:srgbClr val="000000"/>
              </a:solidFill>
              <a:latin typeface="Arial"/>
              <a:ea typeface="Arial"/>
              <a:cs typeface="Arial"/>
              <a:sym typeface="Arial"/>
            </a:endParaRPr>
          </a:p>
        </p:txBody>
      </p:sp>
      <p:sp>
        <p:nvSpPr>
          <p:cNvPr id="140" name="Google Shape;140;p8"/>
          <p:cNvSpPr/>
          <p:nvPr/>
        </p:nvSpPr>
        <p:spPr>
          <a:xfrm>
            <a:off x="685800" y="5819775"/>
            <a:ext cx="10668000" cy="5619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A75B35"/>
              </a:buClr>
              <a:buSzPts val="1875"/>
              <a:buFont typeface="Arial"/>
              <a:buNone/>
            </a:pPr>
            <a:r>
              <a:rPr b="1" i="0" lang="en-US" sz="1800" u="none" cap="none" strike="noStrike">
                <a:solidFill>
                  <a:srgbClr val="A75B35"/>
                </a:solidFill>
                <a:latin typeface="Arial"/>
                <a:ea typeface="Arial"/>
                <a:cs typeface="Arial"/>
                <a:sym typeface="Arial"/>
              </a:rPr>
              <a:t>Design propositions will include supporting cases, contrasting cases and clear evaluation limits.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